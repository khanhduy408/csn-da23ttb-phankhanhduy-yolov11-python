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64" r:id="rId1"/>
  </p:sldMasterIdLst>
  <p:sldIdLst>
    <p:sldId id="256" r:id="rId2"/>
    <p:sldId id="257" r:id="rId3"/>
    <p:sldId id="261" r:id="rId4"/>
    <p:sldId id="262" r:id="rId5"/>
    <p:sldId id="264" r:id="rId6"/>
    <p:sldId id="265" r:id="rId7"/>
    <p:sldId id="266" r:id="rId8"/>
    <p:sldId id="290" r:id="rId9"/>
    <p:sldId id="267" r:id="rId10"/>
    <p:sldId id="268" r:id="rId11"/>
    <p:sldId id="270" r:id="rId12"/>
    <p:sldId id="271" r:id="rId13"/>
    <p:sldId id="272" r:id="rId14"/>
    <p:sldId id="291" r:id="rId15"/>
    <p:sldId id="287" r:id="rId16"/>
    <p:sldId id="292" r:id="rId17"/>
    <p:sldId id="289"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1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normAutofit/>
          </a:bodyPr>
          <a:lstStyle>
            <a:lvl1pPr algn="l">
              <a:defRPr sz="8000"/>
            </a:lvl1pPr>
          </a:lstStyle>
          <a:p>
            <a:r>
              <a:rPr lang="en-US" dirty="0"/>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02AC24A9-CCB6-4F8D-B8DB-C2F3692CFA5A}" type="datetimeFigureOut">
              <a:rPr lang="en-US" smtClean="0"/>
              <a:t>1/5/2026</a:t>
            </a:fld>
            <a:endParaRPr lang="en-US"/>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B2DC25EE-239B-4C5F-AAD1-255A7D5F1EE2}" type="slidenum">
              <a:rPr lang="en-US" smtClean="0"/>
              <a:t>‹#›</a:t>
            </a:fld>
            <a:endParaRPr lang="en-US"/>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537188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1/5/2026</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680896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dirty="0"/>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02AC24A9-CCB6-4F8D-B8DB-C2F3692CFA5A}" type="datetimeFigureOut">
              <a:rPr lang="en-US" smtClean="0"/>
              <a:t>1/5/2026</a:t>
            </a:fld>
            <a:endParaRPr lang="en-US"/>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5450877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1/5/2026</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0914567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1/5/2026</a:t>
            </a:fld>
            <a:endParaRPr lang="en-US"/>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0626407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dirty="0"/>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02AC24A9-CCB6-4F8D-B8DB-C2F3692CFA5A}" type="datetimeFigureOut">
              <a:rPr lang="en-US" smtClean="0"/>
              <a:t>1/5/2026</a:t>
            </a:fld>
            <a:endParaRPr lang="en-US"/>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42891503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02AC24A9-CCB6-4F8D-B8DB-C2F3692CFA5A}" type="datetimeFigureOut">
              <a:rPr lang="en-US" smtClean="0"/>
              <a:t>1/5/2026</a:t>
            </a:fld>
            <a:endParaRPr lang="en-US"/>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7051830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1/5/2026</a:t>
            </a:fld>
            <a:endParaRPr lang="en-US"/>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41512326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p:cNvSpPr>
          <p:nvPr>
            <p:ph type="pic" idx="1"/>
          </p:nvPr>
        </p:nvSpPr>
        <p:spPr>
          <a:xfrm>
            <a:off x="4965192" y="1161288"/>
            <a:ext cx="6729984" cy="4645152"/>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1/5/2026</a:t>
            </a:fld>
            <a:endParaRPr lang="en-US"/>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6621781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02AC24A9-CCB6-4F8D-B8DB-C2F3692CFA5A}" type="datetimeFigureOut">
              <a:rPr lang="en-US" smtClean="0"/>
              <a:t>1/5/2026</a:t>
            </a:fld>
            <a:endParaRPr lang="en-US"/>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7295133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02AC24A9-CCB6-4F8D-B8DB-C2F3692CFA5A}" type="datetimeFigureOut">
              <a:rPr lang="en-US" smtClean="0"/>
              <a:t>1/5/2026</a:t>
            </a:fld>
            <a:endParaRPr lang="en-US"/>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2783109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AC24A9-CCB6-4F8D-B8DB-C2F3692CFA5A}" type="datetimeFigureOut">
              <a:rPr lang="en-US" smtClean="0"/>
              <a:t>1/5/2026</a:t>
            </a:fld>
            <a:endParaRPr lang="en-US"/>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DC25EE-239B-4C5F-AAD1-255A7D5F1EE2}" type="slidenum">
              <a:rPr lang="en-US" smtClean="0"/>
              <a:t>‹#›</a:t>
            </a:fld>
            <a:endParaRPr lang="en-US"/>
          </a:p>
        </p:txBody>
      </p:sp>
    </p:spTree>
    <p:extLst>
      <p:ext uri="{BB962C8B-B14F-4D97-AF65-F5344CB8AC3E}">
        <p14:creationId xmlns:p14="http://schemas.microsoft.com/office/powerpoint/2010/main" val="3759368826"/>
      </p:ext>
    </p:extLst>
  </p:cSld>
  <p:clrMap bg1="lt1" tx1="dk1" bg2="lt2" tx2="dk2" accent1="accent1" accent2="accent2" accent3="accent3" accent4="accent4" accent5="accent5" accent6="accent6" hlink="hlink" folHlink="folHlink"/>
  <p:sldLayoutIdLst>
    <p:sldLayoutId id="2147483859" r:id="rId1"/>
    <p:sldLayoutId id="2147483860" r:id="rId2"/>
    <p:sldLayoutId id="2147483861" r:id="rId3"/>
    <p:sldLayoutId id="2147483862" r:id="rId4"/>
    <p:sldLayoutId id="2147483863" r:id="rId5"/>
    <p:sldLayoutId id="2147483857" r:id="rId6"/>
    <p:sldLayoutId id="2147483853" r:id="rId7"/>
    <p:sldLayoutId id="2147483854" r:id="rId8"/>
    <p:sldLayoutId id="2147483855" r:id="rId9"/>
    <p:sldLayoutId id="2147483856" r:id="rId10"/>
    <p:sldLayoutId id="214748385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4" name="Rectangle 73">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76" name="Freeform: Shape 75">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chemeClr val="tx2">
                <a:lumMod val="10000"/>
                <a:lumOff val="90000"/>
              </a:schemeClr>
            </a:solidFill>
          </a:ln>
          <a:effectLst>
            <a:outerShdw blurRad="63500" sx="102000" sy="102000" algn="ctr" rotWithShape="0">
              <a:schemeClr val="bg1">
                <a:lumMod val="8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78" name="Freeform: Shape 77">
            <a:extLst>
              <a:ext uri="{FF2B5EF4-FFF2-40B4-BE49-F238E27FC236}">
                <a16:creationId xmlns:a16="http://schemas.microsoft.com/office/drawing/2014/main" id="{9C45F024-2468-4D8A-9E11-BB2B1E0A3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0" name="Rectangle 79">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183902"/>
            <a:ext cx="4754880" cy="274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0" name="Title 1">
            <a:extLst>
              <a:ext uri="{FF2B5EF4-FFF2-40B4-BE49-F238E27FC236}">
                <a16:creationId xmlns:a16="http://schemas.microsoft.com/office/drawing/2014/main" id="{560C81E6-D9DC-7FDC-F3CD-FB4DB46C4914}"/>
              </a:ext>
            </a:extLst>
          </p:cNvPr>
          <p:cNvSpPr>
            <a:spLocks noGrp="1"/>
          </p:cNvSpPr>
          <p:nvPr>
            <p:ph type="ctrTitle"/>
          </p:nvPr>
        </p:nvSpPr>
        <p:spPr>
          <a:xfrm>
            <a:off x="1035178" y="2417536"/>
            <a:ext cx="10245185" cy="1924103"/>
          </a:xfrm>
        </p:spPr>
        <p:txBody>
          <a:bodyPr anchor="b">
            <a:noAutofit/>
          </a:bodyPr>
          <a:lstStyle/>
          <a:p>
            <a:pPr algn="ctr"/>
            <a:r>
              <a:rPr lang="vi-VN" sz="4000" b="1" dirty="0">
                <a:latin typeface="Arial" panose="020B0604020202020204" pitchFamily="34" charset="0"/>
                <a:cs typeface="Arial" panose="020B0604020202020204" pitchFamily="34" charset="0"/>
              </a:rPr>
              <a:t>TÌM HIỂU V</a:t>
            </a:r>
            <a:r>
              <a:rPr lang="en-US" sz="4000" b="1" dirty="0">
                <a:latin typeface="Arial" panose="020B0604020202020204" pitchFamily="34" charset="0"/>
                <a:cs typeface="Arial" panose="020B0604020202020204" pitchFamily="34" charset="0"/>
              </a:rPr>
              <a:t>Ề YOLOv11 VÀ ỨNG DỤNG PHÁT HIỆN VÀ ĐẾM SỐ LƯỢNG PHƯƠNG TIỆN</a:t>
            </a:r>
          </a:p>
        </p:txBody>
      </p:sp>
      <p:sp>
        <p:nvSpPr>
          <p:cNvPr id="52" name="Subtitle 2">
            <a:extLst>
              <a:ext uri="{FF2B5EF4-FFF2-40B4-BE49-F238E27FC236}">
                <a16:creationId xmlns:a16="http://schemas.microsoft.com/office/drawing/2014/main" id="{6D37CC12-CD57-9512-ABBA-B3BAA14D1A48}"/>
              </a:ext>
            </a:extLst>
          </p:cNvPr>
          <p:cNvSpPr>
            <a:spLocks noGrp="1"/>
          </p:cNvSpPr>
          <p:nvPr>
            <p:ph type="subTitle" idx="1"/>
          </p:nvPr>
        </p:nvSpPr>
        <p:spPr>
          <a:xfrm>
            <a:off x="3938458" y="5284905"/>
            <a:ext cx="4438626" cy="1518230"/>
          </a:xfrm>
        </p:spPr>
        <p:txBody>
          <a:bodyPr>
            <a:noAutofit/>
          </a:bodyPr>
          <a:lstStyle/>
          <a:p>
            <a:r>
              <a:rPr lang="vi-VN" sz="2400" b="1" dirty="0">
                <a:latin typeface="Arial" panose="020B0604020202020204" pitchFamily="34" charset="0"/>
                <a:cs typeface="Arial" panose="020B0604020202020204" pitchFamily="34" charset="0"/>
              </a:rPr>
              <a:t>GVHD</a:t>
            </a:r>
            <a:r>
              <a:rPr lang="vi-VN" sz="2400" dirty="0">
                <a:latin typeface="Arial" panose="020B0604020202020204" pitchFamily="34" charset="0"/>
                <a:cs typeface="Arial" panose="020B0604020202020204" pitchFamily="34" charset="0"/>
              </a:rPr>
              <a:t>: ThS.</a:t>
            </a:r>
            <a:r>
              <a:rPr lang="en-US" sz="2400" dirty="0">
                <a:latin typeface="Arial" panose="020B0604020202020204" pitchFamily="34" charset="0"/>
                <a:cs typeface="Arial" panose="020B0604020202020204" pitchFamily="34" charset="0"/>
              </a:rPr>
              <a:t>Đoàn </a:t>
            </a:r>
            <a:r>
              <a:rPr lang="en-US" sz="2400" dirty="0" err="1">
                <a:latin typeface="Arial" panose="020B0604020202020204" pitchFamily="34" charset="0"/>
                <a:cs typeface="Arial" panose="020B0604020202020204" pitchFamily="34" charset="0"/>
              </a:rPr>
              <a:t>Phước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Miền</a:t>
            </a:r>
            <a:endParaRPr lang="vi-VN" sz="2400" dirty="0">
              <a:latin typeface="Arial" panose="020B0604020202020204" pitchFamily="34" charset="0"/>
              <a:cs typeface="Arial" panose="020B0604020202020204" pitchFamily="34" charset="0"/>
            </a:endParaRPr>
          </a:p>
          <a:p>
            <a:r>
              <a:rPr lang="vi-VN" sz="2400" b="1" dirty="0">
                <a:latin typeface="Arial" panose="020B0604020202020204" pitchFamily="34" charset="0"/>
                <a:cs typeface="Arial" panose="020B0604020202020204" pitchFamily="34" charset="0"/>
              </a:rPr>
              <a:t>SVTH</a:t>
            </a:r>
            <a:r>
              <a:rPr lang="vi-VN" sz="2400" dirty="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Phan Khánh Duy</a:t>
            </a:r>
            <a:endParaRPr lang="vi-VN" sz="2400" dirty="0">
              <a:latin typeface="Arial" panose="020B0604020202020204" pitchFamily="34" charset="0"/>
              <a:cs typeface="Arial" panose="020B0604020202020204" pitchFamily="34" charset="0"/>
            </a:endParaRPr>
          </a:p>
          <a:p>
            <a:r>
              <a:rPr lang="vi-VN" sz="2400" b="1" dirty="0">
                <a:latin typeface="Arial" panose="020B0604020202020204" pitchFamily="34" charset="0"/>
                <a:cs typeface="Arial" panose="020B0604020202020204" pitchFamily="34" charset="0"/>
              </a:rPr>
              <a:t>LỚP</a:t>
            </a:r>
            <a:r>
              <a:rPr lang="vi-VN" sz="2400" dirty="0">
                <a:latin typeface="Arial" panose="020B0604020202020204" pitchFamily="34" charset="0"/>
                <a:cs typeface="Arial" panose="020B0604020202020204" pitchFamily="34" charset="0"/>
              </a:rPr>
              <a:t>: DA23TTB</a:t>
            </a:r>
            <a:endParaRPr lang="en-US" sz="2400" dirty="0">
              <a:latin typeface="Arial" panose="020B0604020202020204" pitchFamily="34" charset="0"/>
              <a:cs typeface="Arial" panose="020B0604020202020204" pitchFamily="34" charset="0"/>
            </a:endParaRPr>
          </a:p>
        </p:txBody>
      </p:sp>
      <p:pic>
        <p:nvPicPr>
          <p:cNvPr id="53" name="Picture 2" descr="D:\logo-tron.PNG">
            <a:extLst>
              <a:ext uri="{FF2B5EF4-FFF2-40B4-BE49-F238E27FC236}">
                <a16:creationId xmlns:a16="http://schemas.microsoft.com/office/drawing/2014/main" id="{B5FCBF64-395A-444B-6859-C894F5ABEE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2647" y="52043"/>
            <a:ext cx="1773237" cy="177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 name="Rectangle 53">
            <a:extLst>
              <a:ext uri="{FF2B5EF4-FFF2-40B4-BE49-F238E27FC236}">
                <a16:creationId xmlns:a16="http://schemas.microsoft.com/office/drawing/2014/main" id="{0A85CA60-C22A-C06B-A049-EE35A8B4ACD7}"/>
              </a:ext>
            </a:extLst>
          </p:cNvPr>
          <p:cNvSpPr/>
          <p:nvPr/>
        </p:nvSpPr>
        <p:spPr>
          <a:xfrm>
            <a:off x="2638531" y="644192"/>
            <a:ext cx="7279558" cy="1077218"/>
          </a:xfrm>
          <a:prstGeom prst="rect">
            <a:avLst/>
          </a:prstGeom>
        </p:spPr>
        <p:txBody>
          <a:bodyPr wrap="square">
            <a:spAutoFit/>
          </a:bodyPr>
          <a:lstStyle/>
          <a:p>
            <a:pPr algn="ctr">
              <a:defRPr/>
            </a:pPr>
            <a:r>
              <a:rPr lang="vi-VN" sz="3200" b="1" dirty="0">
                <a:ln w="12700">
                  <a:solidFill>
                    <a:schemeClr val="tx1"/>
                  </a:solidFill>
                  <a:prstDash val="solid"/>
                </a:ln>
                <a:effectLst>
                  <a:outerShdw blurRad="38100" dist="38100" dir="2700000" algn="tl">
                    <a:srgbClr val="000000">
                      <a:alpha val="43137"/>
                    </a:srgbClr>
                  </a:outerShdw>
                </a:effectLst>
                <a:latin typeface="Arial" panose="020B0604020202020204" pitchFamily="34" charset="0"/>
                <a:cs typeface="Arial" panose="020B0604020202020204" pitchFamily="34" charset="0"/>
              </a:rPr>
              <a:t>TRƯỜNG</a:t>
            </a:r>
            <a:r>
              <a:rPr lang="en-US" sz="3200" b="1" dirty="0">
                <a:ln w="12700">
                  <a:solidFill>
                    <a:schemeClr val="tx1"/>
                  </a:solidFill>
                  <a:prstDash val="solid"/>
                </a:ln>
                <a:effectLst>
                  <a:outerShdw blurRad="38100" dist="38100" dir="2700000" algn="tl">
                    <a:srgbClr val="000000">
                      <a:alpha val="43137"/>
                    </a:srgbClr>
                  </a:outerShdw>
                </a:effectLst>
                <a:latin typeface="Arial" panose="020B0604020202020204" pitchFamily="34" charset="0"/>
                <a:cs typeface="Arial" panose="020B0604020202020204" pitchFamily="34" charset="0"/>
              </a:rPr>
              <a:t> KỸ THUẬT &amp; CÔNG NGHỆ ĐỒ ÁN CƠ SỞ NGÀNH</a:t>
            </a:r>
          </a:p>
        </p:txBody>
      </p:sp>
    </p:spTree>
    <p:extLst>
      <p:ext uri="{BB962C8B-B14F-4D97-AF65-F5344CB8AC3E}">
        <p14:creationId xmlns:p14="http://schemas.microsoft.com/office/powerpoint/2010/main" val="3246501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50"/>
                                        </p:tgtEl>
                                        <p:attrNameLst>
                                          <p:attrName>style.visibility</p:attrName>
                                        </p:attrNameLst>
                                      </p:cBhvr>
                                      <p:to>
                                        <p:strVal val="visible"/>
                                      </p:to>
                                    </p:set>
                                    <p:animEffect transition="in" filter="fade">
                                      <p:cBhvr>
                                        <p:cTn id="7" dur="400"/>
                                        <p:tgtEl>
                                          <p:spTgt spid="50"/>
                                        </p:tgtEl>
                                      </p:cBhvr>
                                    </p:animEffect>
                                  </p:childTnLst>
                                </p:cTn>
                              </p:par>
                              <p:par>
                                <p:cTn id="8" presetID="10" presetClass="entr" presetSubtype="0" fill="hold" grpId="0" nodeType="withEffect">
                                  <p:stCondLst>
                                    <p:cond delay="1000"/>
                                  </p:stCondLst>
                                  <p:childTnLst>
                                    <p:set>
                                      <p:cBhvr>
                                        <p:cTn id="9" dur="1" fill="hold">
                                          <p:stCondLst>
                                            <p:cond delay="0"/>
                                          </p:stCondLst>
                                        </p:cTn>
                                        <p:tgtEl>
                                          <p:spTgt spid="52">
                                            <p:txEl>
                                              <p:pRg st="0" end="0"/>
                                            </p:txEl>
                                          </p:spTgt>
                                        </p:tgtEl>
                                        <p:attrNameLst>
                                          <p:attrName>style.visibility</p:attrName>
                                        </p:attrNameLst>
                                      </p:cBhvr>
                                      <p:to>
                                        <p:strVal val="visible"/>
                                      </p:to>
                                    </p:set>
                                    <p:animEffect transition="in" filter="fade">
                                      <p:cBhvr>
                                        <p:cTn id="10" dur="750"/>
                                        <p:tgtEl>
                                          <p:spTgt spid="52">
                                            <p:txEl>
                                              <p:pRg st="0" end="0"/>
                                            </p:txEl>
                                          </p:spTgt>
                                        </p:tgtEl>
                                      </p:cBhvr>
                                    </p:animEffect>
                                  </p:childTnLst>
                                </p:cTn>
                              </p:par>
                              <p:par>
                                <p:cTn id="11" presetID="10" presetClass="entr" presetSubtype="0" fill="hold" grpId="0" nodeType="withEffect">
                                  <p:stCondLst>
                                    <p:cond delay="1000"/>
                                  </p:stCondLst>
                                  <p:childTnLst>
                                    <p:set>
                                      <p:cBhvr>
                                        <p:cTn id="12" dur="1" fill="hold">
                                          <p:stCondLst>
                                            <p:cond delay="0"/>
                                          </p:stCondLst>
                                        </p:cTn>
                                        <p:tgtEl>
                                          <p:spTgt spid="52">
                                            <p:txEl>
                                              <p:pRg st="2" end="2"/>
                                            </p:txEl>
                                          </p:spTgt>
                                        </p:tgtEl>
                                        <p:attrNameLst>
                                          <p:attrName>style.visibility</p:attrName>
                                        </p:attrNameLst>
                                      </p:cBhvr>
                                      <p:to>
                                        <p:strVal val="visible"/>
                                      </p:to>
                                    </p:set>
                                    <p:animEffect transition="in" filter="fade">
                                      <p:cBhvr>
                                        <p:cTn id="13" dur="750"/>
                                        <p:tgtEl>
                                          <p:spTgt spid="5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52" grpId="0" uiExpand="1"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CBB2B1F0-0DD6-4744-9A46-7A344FB48E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AC917A7-01F9-2894-D838-7887BA0F605E}"/>
              </a:ext>
            </a:extLst>
          </p:cNvPr>
          <p:cNvSpPr>
            <a:spLocks noGrp="1"/>
          </p:cNvSpPr>
          <p:nvPr>
            <p:ph type="title"/>
          </p:nvPr>
        </p:nvSpPr>
        <p:spPr>
          <a:xfrm>
            <a:off x="841248" y="1227693"/>
            <a:ext cx="5254752" cy="1118168"/>
          </a:xfrm>
        </p:spPr>
        <p:txBody>
          <a:bodyPr anchor="b">
            <a:normAutofit/>
          </a:bodyPr>
          <a:lstStyle/>
          <a:p>
            <a:r>
              <a:rPr lang="vi-VN" sz="6000" b="1" dirty="0">
                <a:latin typeface="Arial" panose="020B0604020202020204" pitchFamily="34" charset="0"/>
                <a:cs typeface="Arial" panose="020B0604020202020204" pitchFamily="34" charset="0"/>
              </a:rPr>
              <a:t>NỘI DUNG</a:t>
            </a:r>
            <a:r>
              <a:rPr lang="en-US" sz="6000" b="1" dirty="0">
                <a:latin typeface="Arial" panose="020B0604020202020204" pitchFamily="34" charset="0"/>
                <a:cs typeface="Arial" panose="020B0604020202020204" pitchFamily="34" charset="0"/>
              </a:rPr>
              <a:t> </a:t>
            </a:r>
          </a:p>
        </p:txBody>
      </p:sp>
      <p:sp>
        <p:nvSpPr>
          <p:cNvPr id="30" name="Rectangle 29">
            <a:extLst>
              <a:ext uri="{FF2B5EF4-FFF2-40B4-BE49-F238E27FC236}">
                <a16:creationId xmlns:a16="http://schemas.microsoft.com/office/drawing/2014/main" id="{7A0B5DEA-ADF6-4BA5-9307-147F0A4685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8680" y="2898648"/>
            <a:ext cx="1050645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 name="Rectangle 31">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2783982"/>
            <a:ext cx="1873457"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Content Placeholder 2">
            <a:extLst>
              <a:ext uri="{FF2B5EF4-FFF2-40B4-BE49-F238E27FC236}">
                <a16:creationId xmlns:a16="http://schemas.microsoft.com/office/drawing/2014/main" id="{BECF4390-7DBE-4E0A-3E67-74407471140B}"/>
              </a:ext>
            </a:extLst>
          </p:cNvPr>
          <p:cNvSpPr>
            <a:spLocks noGrp="1"/>
          </p:cNvSpPr>
          <p:nvPr>
            <p:ph idx="1"/>
          </p:nvPr>
        </p:nvSpPr>
        <p:spPr>
          <a:xfrm>
            <a:off x="841248" y="3337269"/>
            <a:ext cx="10509504" cy="2905686"/>
          </a:xfrm>
        </p:spPr>
        <p:txBody>
          <a:bodyPr>
            <a:normAutofit/>
          </a:bodyPr>
          <a:lstStyle/>
          <a:p>
            <a:pPr marL="457200" indent="-457200">
              <a:buFont typeface="+mj-lt"/>
              <a:buAutoNum type="arabicPeriod"/>
            </a:pPr>
            <a:r>
              <a:rPr lang="en-US" sz="2600" dirty="0" err="1">
                <a:latin typeface="Arial" panose="020B0604020202020204" pitchFamily="34" charset="0"/>
                <a:cs typeface="Arial" panose="020B0604020202020204" pitchFamily="34" charset="0"/>
              </a:rPr>
              <a:t>Tổng</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quan</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về</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đề</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tài</a:t>
            </a:r>
            <a:r>
              <a:rPr lang="en-US" sz="2600" dirty="0">
                <a:latin typeface="Arial" panose="020B0604020202020204" pitchFamily="34" charset="0"/>
                <a:cs typeface="Arial" panose="020B0604020202020204" pitchFamily="34" charset="0"/>
              </a:rPr>
              <a:t> </a:t>
            </a:r>
          </a:p>
          <a:p>
            <a:pPr marL="457200" indent="-457200">
              <a:buFont typeface="+mj-lt"/>
              <a:buAutoNum type="arabicPeriod"/>
            </a:pPr>
            <a:r>
              <a:rPr lang="en-US" sz="2600" dirty="0" err="1">
                <a:latin typeface="Arial" panose="020B0604020202020204" pitchFamily="34" charset="0"/>
                <a:cs typeface="Arial" panose="020B0604020202020204" pitchFamily="34" charset="0"/>
              </a:rPr>
              <a:t>Cơ</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sở</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lý</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thuyết</a:t>
            </a:r>
            <a:endParaRPr lang="en-US" sz="2600" dirty="0">
              <a:latin typeface="Arial" panose="020B0604020202020204" pitchFamily="34" charset="0"/>
              <a:cs typeface="Arial" panose="020B0604020202020204" pitchFamily="34" charset="0"/>
            </a:endParaRPr>
          </a:p>
          <a:p>
            <a:pPr marL="457200" indent="-457200">
              <a:buFont typeface="+mj-lt"/>
              <a:buAutoNum type="arabicPeriod"/>
            </a:pPr>
            <a:r>
              <a:rPr lang="en-US" sz="2600" dirty="0" err="1">
                <a:latin typeface="Arial" panose="020B0604020202020204" pitchFamily="34" charset="0"/>
                <a:cs typeface="Arial" panose="020B0604020202020204" pitchFamily="34" charset="0"/>
              </a:rPr>
              <a:t>Phân</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tích</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và</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thiết</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kế</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hệ</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thống</a:t>
            </a:r>
            <a:endParaRPr lang="en-US" sz="2600" dirty="0">
              <a:latin typeface="Arial" panose="020B0604020202020204" pitchFamily="34" charset="0"/>
              <a:cs typeface="Arial" panose="020B0604020202020204" pitchFamily="34" charset="0"/>
            </a:endParaRPr>
          </a:p>
          <a:p>
            <a:pPr marL="457200" indent="-457200">
              <a:buFont typeface="+mj-lt"/>
              <a:buAutoNum type="arabicPeriod"/>
            </a:pPr>
            <a:r>
              <a:rPr lang="en-US" sz="2600" dirty="0" err="1">
                <a:latin typeface="Arial" panose="020B0604020202020204" pitchFamily="34" charset="0"/>
                <a:cs typeface="Arial" panose="020B0604020202020204" pitchFamily="34" charset="0"/>
              </a:rPr>
              <a:t>Kết</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quả</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nghiên</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cứu</a:t>
            </a:r>
            <a:endParaRPr lang="en-US" sz="2600" dirty="0">
              <a:latin typeface="Arial" panose="020B0604020202020204" pitchFamily="34" charset="0"/>
              <a:cs typeface="Arial" panose="020B0604020202020204" pitchFamily="34" charset="0"/>
            </a:endParaRPr>
          </a:p>
          <a:p>
            <a:pPr marL="457200" indent="-457200">
              <a:buFont typeface="+mj-lt"/>
              <a:buAutoNum type="arabicPeriod"/>
            </a:pPr>
            <a:r>
              <a:rPr lang="en-US" sz="2600" dirty="0" err="1">
                <a:latin typeface="Arial" panose="020B0604020202020204" pitchFamily="34" charset="0"/>
                <a:cs typeface="Arial" panose="020B0604020202020204" pitchFamily="34" charset="0"/>
              </a:rPr>
              <a:t>Tổng</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kết</a:t>
            </a:r>
            <a:r>
              <a:rPr lang="en-US" sz="2600" dirty="0">
                <a:latin typeface="Arial" panose="020B0604020202020204" pitchFamily="34" charset="0"/>
                <a:cs typeface="Arial" panose="020B0604020202020204" pitchFamily="34" charset="0"/>
              </a:rPr>
              <a:t> </a:t>
            </a:r>
          </a:p>
          <a:p>
            <a:pPr marL="457200" indent="-457200">
              <a:buFont typeface="+mj-lt"/>
              <a:buAutoNum type="arabicPeriod"/>
            </a:pP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96755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75CD6-A47A-0EB5-0395-9217423D5E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FCC86C-8C44-4C2F-9763-12135D24D8A8}"/>
              </a:ext>
            </a:extLst>
          </p:cNvPr>
          <p:cNvSpPr>
            <a:spLocks noGrp="1"/>
          </p:cNvSpPr>
          <p:nvPr>
            <p:ph type="title"/>
          </p:nvPr>
        </p:nvSpPr>
        <p:spPr>
          <a:xfrm>
            <a:off x="841248" y="256032"/>
            <a:ext cx="10506456" cy="1014984"/>
          </a:xfrm>
        </p:spPr>
        <p:txBody>
          <a:bodyPr anchor="b">
            <a:normAutofit/>
          </a:bodyPr>
          <a:lstStyle/>
          <a:p>
            <a:r>
              <a:rPr lang="vi-VN" b="1">
                <a:latin typeface="Arial" panose="020B0604020202020204" pitchFamily="34" charset="0"/>
                <a:cs typeface="Arial" panose="020B0604020202020204" pitchFamily="34" charset="0"/>
              </a:rPr>
              <a:t>TỔNG QUAN VỀ ĐỀ TÀI	</a:t>
            </a:r>
            <a:endParaRPr lang="en-US" b="1">
              <a:latin typeface="Arial" panose="020B0604020202020204" pitchFamily="34" charset="0"/>
              <a:cs typeface="Arial" panose="020B0604020202020204" pitchFamily="34" charset="0"/>
            </a:endParaRPr>
          </a:p>
        </p:txBody>
      </p:sp>
      <p:sp>
        <p:nvSpPr>
          <p:cNvPr id="5" name="Content Placeholder 4">
            <a:extLst>
              <a:ext uri="{FF2B5EF4-FFF2-40B4-BE49-F238E27FC236}">
                <a16:creationId xmlns:a16="http://schemas.microsoft.com/office/drawing/2014/main" id="{85AE1718-E42C-CA31-0C22-7930B9BF76DD}"/>
              </a:ext>
            </a:extLst>
          </p:cNvPr>
          <p:cNvSpPr>
            <a:spLocks noGrp="1"/>
          </p:cNvSpPr>
          <p:nvPr>
            <p:ph idx="1"/>
          </p:nvPr>
        </p:nvSpPr>
        <p:spPr>
          <a:xfrm>
            <a:off x="939570" y="1402310"/>
            <a:ext cx="4322241" cy="526433"/>
          </a:xfrm>
        </p:spPr>
        <p:txBody>
          <a:bodyPr>
            <a:normAutofit/>
          </a:bodyPr>
          <a:lstStyle/>
          <a:p>
            <a:pPr marL="0" indent="0">
              <a:buNone/>
            </a:pPr>
            <a:r>
              <a:rPr lang="en-US" sz="2600" b="1" dirty="0">
                <a:latin typeface="Arial" panose="020B0604020202020204" pitchFamily="34" charset="0"/>
                <a:cs typeface="Arial" panose="020B0604020202020204" pitchFamily="34" charset="0"/>
              </a:rPr>
              <a:t>Lý do </a:t>
            </a:r>
            <a:r>
              <a:rPr lang="en-US" sz="2600" b="1" dirty="0" err="1">
                <a:latin typeface="Arial" panose="020B0604020202020204" pitchFamily="34" charset="0"/>
                <a:cs typeface="Arial" panose="020B0604020202020204" pitchFamily="34" charset="0"/>
              </a:rPr>
              <a:t>chọn</a:t>
            </a:r>
            <a:r>
              <a:rPr lang="en-US" sz="2600" b="1" dirty="0">
                <a:latin typeface="Arial" panose="020B0604020202020204" pitchFamily="34" charset="0"/>
                <a:cs typeface="Arial" panose="020B0604020202020204" pitchFamily="34" charset="0"/>
              </a:rPr>
              <a:t> </a:t>
            </a:r>
            <a:r>
              <a:rPr lang="en-US" sz="2600" b="1" dirty="0" err="1">
                <a:latin typeface="Arial" panose="020B0604020202020204" pitchFamily="34" charset="0"/>
                <a:cs typeface="Arial" panose="020B0604020202020204" pitchFamily="34" charset="0"/>
              </a:rPr>
              <a:t>đề</a:t>
            </a:r>
            <a:r>
              <a:rPr lang="en-US" sz="2600" b="1" dirty="0">
                <a:latin typeface="Arial" panose="020B0604020202020204" pitchFamily="34" charset="0"/>
                <a:cs typeface="Arial" panose="020B0604020202020204" pitchFamily="34" charset="0"/>
              </a:rPr>
              <a:t> </a:t>
            </a:r>
            <a:r>
              <a:rPr lang="en-US" sz="2600" b="1" dirty="0" err="1">
                <a:latin typeface="Arial" panose="020B0604020202020204" pitchFamily="34" charset="0"/>
                <a:cs typeface="Arial" panose="020B0604020202020204" pitchFamily="34" charset="0"/>
              </a:rPr>
              <a:t>tài</a:t>
            </a:r>
            <a:r>
              <a:rPr lang="en-US" sz="2600" b="1" dirty="0">
                <a:latin typeface="Arial" panose="020B0604020202020204" pitchFamily="34" charset="0"/>
                <a:cs typeface="Arial" panose="020B0604020202020204" pitchFamily="34" charset="0"/>
              </a:rPr>
              <a:t> </a:t>
            </a:r>
          </a:p>
        </p:txBody>
      </p:sp>
      <p:sp>
        <p:nvSpPr>
          <p:cNvPr id="6" name="Content Placeholder 4">
            <a:extLst>
              <a:ext uri="{FF2B5EF4-FFF2-40B4-BE49-F238E27FC236}">
                <a16:creationId xmlns:a16="http://schemas.microsoft.com/office/drawing/2014/main" id="{9DD6753B-4DD8-A734-DB8F-D45482C282E9}"/>
              </a:ext>
            </a:extLst>
          </p:cNvPr>
          <p:cNvSpPr txBox="1">
            <a:spLocks/>
          </p:cNvSpPr>
          <p:nvPr/>
        </p:nvSpPr>
        <p:spPr>
          <a:xfrm>
            <a:off x="157316" y="2060037"/>
            <a:ext cx="12034684" cy="4429253"/>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latin typeface="Arial" panose="020B0604020202020204" pitchFamily="34" charset="0"/>
                <a:cs typeface="Arial" panose="020B0604020202020204" pitchFamily="34" charset="0"/>
              </a:rPr>
              <a:t>- </a:t>
            </a:r>
            <a:r>
              <a:rPr lang="vi-VN" sz="2400" dirty="0">
                <a:latin typeface="Arial" panose="020B0604020202020204" pitchFamily="34" charset="0"/>
                <a:cs typeface="Arial" panose="020B0604020202020204" pitchFamily="34" charset="0"/>
              </a:rPr>
              <a:t>Trong bối cảnh đô thị hóa và sự gia tăng nhanh chóng của các phương tiện giao thông, việc giám sát và quản lý lưu lượng giao thông đóng vai trò quan trọng trong quy hoạch đô thị và đảm bảo an toàn giao thông.</a:t>
            </a:r>
          </a:p>
          <a:p>
            <a:pPr marL="0" indent="0">
              <a:buNone/>
            </a:pPr>
            <a:r>
              <a:rPr lang="en-US" sz="2400" dirty="0">
                <a:latin typeface="Arial" panose="020B0604020202020204" pitchFamily="34" charset="0"/>
                <a:cs typeface="Arial" panose="020B0604020202020204" pitchFamily="34" charset="0"/>
              </a:rPr>
              <a:t>- </a:t>
            </a:r>
            <a:r>
              <a:rPr lang="vi-VN" sz="2400" dirty="0">
                <a:latin typeface="Arial" panose="020B0604020202020204" pitchFamily="34" charset="0"/>
                <a:cs typeface="Arial" panose="020B0604020202020204" pitchFamily="34" charset="0"/>
              </a:rPr>
              <a:t>Sự phát triển mạnh mẽ của trí tuệ nhân tạo (AI) và thị giác máy tính (Computer Vision) đã mở ra nhiều hướng tiếp cận hiệu quả trong việc tự động phát hiện và phân tích hình ảnh giao thông.</a:t>
            </a:r>
          </a:p>
          <a:p>
            <a:pPr marL="0" indent="0">
              <a:buNone/>
            </a:pPr>
            <a:r>
              <a:rPr lang="en-US" sz="2400" dirty="0">
                <a:latin typeface="Arial" panose="020B0604020202020204" pitchFamily="34" charset="0"/>
                <a:cs typeface="Arial" panose="020B0604020202020204" pitchFamily="34" charset="0"/>
              </a:rPr>
              <a:t>- </a:t>
            </a:r>
            <a:r>
              <a:rPr lang="vi-VN" sz="2400" dirty="0">
                <a:latin typeface="Arial" panose="020B0604020202020204" pitchFamily="34" charset="0"/>
                <a:cs typeface="Arial" panose="020B0604020202020204" pitchFamily="34" charset="0"/>
              </a:rPr>
              <a:t>Trong đó, mô hình YOLOv11 là một trong những mô hình phát hiện đối tượng tiên tiến, có tốc độ xử lý nhanh và độ chính xác cao. Xuất phát từ nhu cầu thực tế và mong muốn tìm hiểu sâu hơn về mô hình này, đề tài được lựa chọn nhằm nghiên cứu và ứng dụng YOLOv11 vào bài toán phát hiện và đếm số lượng phương tiện giao thông.</a:t>
            </a:r>
          </a:p>
        </p:txBody>
      </p:sp>
    </p:spTree>
    <p:extLst>
      <p:ext uri="{BB962C8B-B14F-4D97-AF65-F5344CB8AC3E}">
        <p14:creationId xmlns:p14="http://schemas.microsoft.com/office/powerpoint/2010/main" val="19606630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3AA2C0-747F-A289-B5AA-28FB41F341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0D7934-E575-2855-B042-A2E5A8523B08}"/>
              </a:ext>
            </a:extLst>
          </p:cNvPr>
          <p:cNvSpPr>
            <a:spLocks noGrp="1"/>
          </p:cNvSpPr>
          <p:nvPr>
            <p:ph type="title"/>
          </p:nvPr>
        </p:nvSpPr>
        <p:spPr>
          <a:xfrm>
            <a:off x="841248" y="256032"/>
            <a:ext cx="10506456" cy="1014984"/>
          </a:xfrm>
        </p:spPr>
        <p:txBody>
          <a:bodyPr anchor="b">
            <a:normAutofit/>
          </a:bodyPr>
          <a:lstStyle/>
          <a:p>
            <a:r>
              <a:rPr lang="vi-VN" b="1">
                <a:latin typeface="Arial" panose="020B0604020202020204" pitchFamily="34" charset="0"/>
                <a:cs typeface="Arial" panose="020B0604020202020204" pitchFamily="34" charset="0"/>
              </a:rPr>
              <a:t>TỔNG QUAN VỀ ĐỀ TÀI	</a:t>
            </a:r>
            <a:endParaRPr lang="en-US" b="1">
              <a:latin typeface="Arial" panose="020B0604020202020204" pitchFamily="34" charset="0"/>
              <a:cs typeface="Arial" panose="020B0604020202020204" pitchFamily="34" charset="0"/>
            </a:endParaRPr>
          </a:p>
        </p:txBody>
      </p:sp>
      <p:sp>
        <p:nvSpPr>
          <p:cNvPr id="5" name="Content Placeholder 4">
            <a:extLst>
              <a:ext uri="{FF2B5EF4-FFF2-40B4-BE49-F238E27FC236}">
                <a16:creationId xmlns:a16="http://schemas.microsoft.com/office/drawing/2014/main" id="{ADEEF2D2-CA9C-603F-0365-4C7E9B1E4E5C}"/>
              </a:ext>
            </a:extLst>
          </p:cNvPr>
          <p:cNvSpPr>
            <a:spLocks noGrp="1"/>
          </p:cNvSpPr>
          <p:nvPr>
            <p:ph idx="1"/>
          </p:nvPr>
        </p:nvSpPr>
        <p:spPr>
          <a:xfrm>
            <a:off x="939570" y="1402310"/>
            <a:ext cx="3396456" cy="526433"/>
          </a:xfrm>
        </p:spPr>
        <p:txBody>
          <a:bodyPr>
            <a:noAutofit/>
          </a:bodyPr>
          <a:lstStyle/>
          <a:p>
            <a:pPr marL="0" indent="0">
              <a:buNone/>
            </a:pPr>
            <a:r>
              <a:rPr lang="vi-VN" sz="2600" b="1" dirty="0">
                <a:latin typeface="Arial" panose="020B0604020202020204" pitchFamily="34" charset="0"/>
                <a:cs typeface="Arial" panose="020B0604020202020204" pitchFamily="34" charset="0"/>
              </a:rPr>
              <a:t>Mục tiêu của đề tài</a:t>
            </a:r>
            <a:endParaRPr lang="en-US" sz="2600" b="1" dirty="0">
              <a:latin typeface="Arial" panose="020B0604020202020204" pitchFamily="34" charset="0"/>
              <a:cs typeface="Arial" panose="020B0604020202020204" pitchFamily="34" charset="0"/>
            </a:endParaRPr>
          </a:p>
        </p:txBody>
      </p:sp>
      <p:sp>
        <p:nvSpPr>
          <p:cNvPr id="6" name="Content Placeholder 4">
            <a:extLst>
              <a:ext uri="{FF2B5EF4-FFF2-40B4-BE49-F238E27FC236}">
                <a16:creationId xmlns:a16="http://schemas.microsoft.com/office/drawing/2014/main" id="{D5F98873-359E-38FA-1955-15833A9604F7}"/>
              </a:ext>
            </a:extLst>
          </p:cNvPr>
          <p:cNvSpPr txBox="1">
            <a:spLocks/>
          </p:cNvSpPr>
          <p:nvPr/>
        </p:nvSpPr>
        <p:spPr>
          <a:xfrm>
            <a:off x="741647" y="2487969"/>
            <a:ext cx="10606057" cy="2800573"/>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None/>
            </a:pPr>
            <a:r>
              <a:rPr lang="en-US" sz="2600" dirty="0">
                <a:latin typeface="Arial" panose="020B0604020202020204" pitchFamily="34" charset="0"/>
                <a:cs typeface="Arial" panose="020B0604020202020204" pitchFamily="34" charset="0"/>
              </a:rPr>
              <a:t>- Tìm </a:t>
            </a:r>
            <a:r>
              <a:rPr lang="en-US" sz="2600" dirty="0" err="1">
                <a:latin typeface="Arial" panose="020B0604020202020204" pitchFamily="34" charset="0"/>
                <a:cs typeface="Arial" panose="020B0604020202020204" pitchFamily="34" charset="0"/>
              </a:rPr>
              <a:t>hiểu</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tổng</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quan</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về</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mô</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hình</a:t>
            </a:r>
            <a:r>
              <a:rPr lang="en-US" sz="2600" dirty="0">
                <a:latin typeface="Arial" panose="020B0604020202020204" pitchFamily="34" charset="0"/>
                <a:cs typeface="Arial" panose="020B0604020202020204" pitchFamily="34" charset="0"/>
              </a:rPr>
              <a:t> YOLOv11 </a:t>
            </a:r>
            <a:r>
              <a:rPr lang="en-US" sz="2600" dirty="0" err="1">
                <a:latin typeface="Arial" panose="020B0604020202020204" pitchFamily="34" charset="0"/>
                <a:cs typeface="Arial" panose="020B0604020202020204" pitchFamily="34" charset="0"/>
              </a:rPr>
              <a:t>và</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nguyên</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lý</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hoạt</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động</a:t>
            </a:r>
            <a:r>
              <a:rPr lang="en-US" sz="2600" dirty="0">
                <a:latin typeface="Arial" panose="020B0604020202020204" pitchFamily="34" charset="0"/>
                <a:cs typeface="Arial" panose="020B0604020202020204" pitchFamily="34" charset="0"/>
              </a:rPr>
              <a:t>.</a:t>
            </a:r>
          </a:p>
          <a:p>
            <a:pPr marL="0" lvl="0" indent="0">
              <a:buNone/>
            </a:pP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Xây</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dựng</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hệ</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thống</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phát</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hiện</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phương</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tiện</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từ</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ảnh</a:t>
            </a:r>
            <a:r>
              <a:rPr lang="en-US" sz="2600" dirty="0">
                <a:latin typeface="Arial" panose="020B0604020202020204" pitchFamily="34" charset="0"/>
                <a:cs typeface="Arial" panose="020B0604020202020204" pitchFamily="34" charset="0"/>
              </a:rPr>
              <a:t>/video.</a:t>
            </a:r>
          </a:p>
          <a:p>
            <a:pPr marL="0" lvl="0" indent="0">
              <a:buNone/>
            </a:pP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Ứng</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dụng</a:t>
            </a:r>
            <a:r>
              <a:rPr lang="en-US" sz="2600" dirty="0">
                <a:latin typeface="Arial" panose="020B0604020202020204" pitchFamily="34" charset="0"/>
                <a:cs typeface="Arial" panose="020B0604020202020204" pitchFamily="34" charset="0"/>
              </a:rPr>
              <a:t> YOLOv11 </a:t>
            </a:r>
            <a:r>
              <a:rPr lang="en-US" sz="2600" dirty="0" err="1">
                <a:latin typeface="Arial" panose="020B0604020202020204" pitchFamily="34" charset="0"/>
                <a:cs typeface="Arial" panose="020B0604020202020204" pitchFamily="34" charset="0"/>
              </a:rPr>
              <a:t>để</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đếm</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số</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lượng</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phương</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tiện</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trong</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khung</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hình</a:t>
            </a:r>
            <a:r>
              <a:rPr lang="en-US" sz="2600" dirty="0">
                <a:latin typeface="Arial" panose="020B0604020202020204" pitchFamily="34" charset="0"/>
                <a:cs typeface="Arial" panose="020B0604020202020204" pitchFamily="34" charset="0"/>
              </a:rPr>
              <a:t>.</a:t>
            </a:r>
          </a:p>
          <a:p>
            <a:pPr marL="0" lvl="0" indent="0">
              <a:buNone/>
            </a:pP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Đánh</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giá</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hiệu</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quả</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của</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mô</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hình</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thông</a:t>
            </a:r>
            <a:r>
              <a:rPr lang="en-US" sz="2600" dirty="0">
                <a:latin typeface="Arial" panose="020B0604020202020204" pitchFamily="34" charset="0"/>
                <a:cs typeface="Arial" panose="020B0604020202020204" pitchFamily="34" charset="0"/>
              </a:rPr>
              <a:t> qua </a:t>
            </a:r>
            <a:r>
              <a:rPr lang="en-US" sz="2600" dirty="0" err="1">
                <a:latin typeface="Arial" panose="020B0604020202020204" pitchFamily="34" charset="0"/>
                <a:cs typeface="Arial" panose="020B0604020202020204" pitchFamily="34" charset="0"/>
              </a:rPr>
              <a:t>kết</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quả</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thực</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nghiệm</a:t>
            </a:r>
            <a:r>
              <a:rPr lang="en-US" sz="2600"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19345659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CC0640-A51C-B48B-31DB-231CD54F9D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80404F-D2C7-C677-1027-8B0EE27E3601}"/>
              </a:ext>
            </a:extLst>
          </p:cNvPr>
          <p:cNvSpPr>
            <a:spLocks noGrp="1"/>
          </p:cNvSpPr>
          <p:nvPr>
            <p:ph type="title"/>
          </p:nvPr>
        </p:nvSpPr>
        <p:spPr>
          <a:xfrm>
            <a:off x="841248" y="256032"/>
            <a:ext cx="10506456" cy="1014984"/>
          </a:xfrm>
        </p:spPr>
        <p:txBody>
          <a:bodyPr anchor="b">
            <a:normAutofit/>
          </a:bodyPr>
          <a:lstStyle/>
          <a:p>
            <a:r>
              <a:rPr lang="vi-VN" b="1">
                <a:latin typeface="Arial" panose="020B0604020202020204" pitchFamily="34" charset="0"/>
                <a:cs typeface="Arial" panose="020B0604020202020204" pitchFamily="34" charset="0"/>
              </a:rPr>
              <a:t>TỔNG QUAN VỀ ĐỀ TÀI	</a:t>
            </a:r>
            <a:endParaRPr lang="en-US" b="1">
              <a:latin typeface="Arial" panose="020B0604020202020204" pitchFamily="34" charset="0"/>
              <a:cs typeface="Arial" panose="020B0604020202020204" pitchFamily="34" charset="0"/>
            </a:endParaRPr>
          </a:p>
        </p:txBody>
      </p:sp>
      <p:sp>
        <p:nvSpPr>
          <p:cNvPr id="5" name="Content Placeholder 4">
            <a:extLst>
              <a:ext uri="{FF2B5EF4-FFF2-40B4-BE49-F238E27FC236}">
                <a16:creationId xmlns:a16="http://schemas.microsoft.com/office/drawing/2014/main" id="{A48B13D7-D35E-676A-F95A-0A5111A35DE7}"/>
              </a:ext>
            </a:extLst>
          </p:cNvPr>
          <p:cNvSpPr>
            <a:spLocks noGrp="1"/>
          </p:cNvSpPr>
          <p:nvPr>
            <p:ph idx="1"/>
          </p:nvPr>
        </p:nvSpPr>
        <p:spPr>
          <a:xfrm>
            <a:off x="939569" y="1402310"/>
            <a:ext cx="5864354" cy="526433"/>
          </a:xfrm>
        </p:spPr>
        <p:txBody>
          <a:bodyPr>
            <a:noAutofit/>
          </a:bodyPr>
          <a:lstStyle/>
          <a:p>
            <a:pPr marL="0" indent="0">
              <a:buNone/>
            </a:pPr>
            <a:r>
              <a:rPr lang="vi-VN" sz="2600" b="1" dirty="0">
                <a:latin typeface="Arial" panose="020B0604020202020204" pitchFamily="34" charset="0"/>
                <a:cs typeface="Arial" panose="020B0604020202020204" pitchFamily="34" charset="0"/>
              </a:rPr>
              <a:t>Đối tượng và phạm vi nghiên cứu</a:t>
            </a:r>
            <a:endParaRPr lang="en-US" sz="2600" b="1" dirty="0">
              <a:latin typeface="Arial" panose="020B0604020202020204" pitchFamily="34" charset="0"/>
              <a:cs typeface="Arial" panose="020B0604020202020204" pitchFamily="34" charset="0"/>
            </a:endParaRPr>
          </a:p>
        </p:txBody>
      </p:sp>
      <p:sp>
        <p:nvSpPr>
          <p:cNvPr id="6" name="Content Placeholder 4">
            <a:extLst>
              <a:ext uri="{FF2B5EF4-FFF2-40B4-BE49-F238E27FC236}">
                <a16:creationId xmlns:a16="http://schemas.microsoft.com/office/drawing/2014/main" id="{5093A668-439E-D329-CC9A-8C7282620EB8}"/>
              </a:ext>
            </a:extLst>
          </p:cNvPr>
          <p:cNvSpPr txBox="1">
            <a:spLocks/>
          </p:cNvSpPr>
          <p:nvPr/>
        </p:nvSpPr>
        <p:spPr>
          <a:xfrm>
            <a:off x="865953" y="2361362"/>
            <a:ext cx="10451592" cy="4069583"/>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600" dirty="0" err="1">
                <a:latin typeface="Arial" panose="020B0604020202020204" pitchFamily="34" charset="0"/>
                <a:cs typeface="Arial" panose="020B0604020202020204" pitchFamily="34" charset="0"/>
              </a:rPr>
              <a:t>Đối</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tượng</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nghiên</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cứu</a:t>
            </a:r>
            <a:r>
              <a:rPr lang="en-US" sz="2600" dirty="0">
                <a:latin typeface="Arial" panose="020B0604020202020204" pitchFamily="34" charset="0"/>
                <a:cs typeface="Arial" panose="020B0604020202020204" pitchFamily="34" charset="0"/>
              </a:rPr>
              <a:t>:</a:t>
            </a:r>
          </a:p>
          <a:p>
            <a:pPr>
              <a:buFontTx/>
              <a:buChar char="-"/>
            </a:pPr>
            <a:r>
              <a:rPr lang="en-US" sz="2600" dirty="0" err="1">
                <a:latin typeface="Arial" panose="020B0604020202020204" pitchFamily="34" charset="0"/>
                <a:cs typeface="Arial" panose="020B0604020202020204" pitchFamily="34" charset="0"/>
              </a:rPr>
              <a:t>Mô</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hình</a:t>
            </a:r>
            <a:r>
              <a:rPr lang="en-US" sz="2600" dirty="0">
                <a:latin typeface="Arial" panose="020B0604020202020204" pitchFamily="34" charset="0"/>
                <a:cs typeface="Arial" panose="020B0604020202020204" pitchFamily="34" charset="0"/>
              </a:rPr>
              <a:t> YOLOv11</a:t>
            </a:r>
          </a:p>
          <a:p>
            <a:pPr>
              <a:buFontTx/>
              <a:buChar char="-"/>
            </a:pPr>
            <a:r>
              <a:rPr lang="en-US" sz="2600" dirty="0">
                <a:latin typeface="Arial" panose="020B0604020202020204" pitchFamily="34" charset="0"/>
                <a:cs typeface="Arial" panose="020B0604020202020204" pitchFamily="34" charset="0"/>
              </a:rPr>
              <a:t>Các </a:t>
            </a:r>
            <a:r>
              <a:rPr lang="en-US" sz="2600" dirty="0" err="1">
                <a:latin typeface="Arial" panose="020B0604020202020204" pitchFamily="34" charset="0"/>
                <a:cs typeface="Arial" panose="020B0604020202020204" pitchFamily="34" charset="0"/>
              </a:rPr>
              <a:t>phương</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tiện</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giao</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thông</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xe</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máy</a:t>
            </a:r>
            <a:r>
              <a:rPr lang="en-US" sz="2600" dirty="0">
                <a:latin typeface="Arial" panose="020B0604020202020204" pitchFamily="34" charset="0"/>
                <a:cs typeface="Arial" panose="020B0604020202020204" pitchFamily="34" charset="0"/>
              </a:rPr>
              <a:t>, ô </a:t>
            </a:r>
            <a:r>
              <a:rPr lang="en-US" sz="2600" dirty="0" err="1">
                <a:latin typeface="Arial" panose="020B0604020202020204" pitchFamily="34" charset="0"/>
                <a:cs typeface="Arial" panose="020B0604020202020204" pitchFamily="34" charset="0"/>
              </a:rPr>
              <a:t>tô</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xe</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buýt</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xe</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tải</a:t>
            </a:r>
            <a:r>
              <a:rPr lang="en-US" sz="2600" dirty="0">
                <a:latin typeface="Arial" panose="020B0604020202020204" pitchFamily="34" charset="0"/>
                <a:cs typeface="Arial" panose="020B0604020202020204" pitchFamily="34" charset="0"/>
              </a:rPr>
              <a:t>.</a:t>
            </a:r>
          </a:p>
          <a:p>
            <a:pPr marL="0" indent="0">
              <a:buNone/>
            </a:pPr>
            <a:r>
              <a:rPr lang="en-US" sz="2600" dirty="0">
                <a:latin typeface="Arial" panose="020B0604020202020204" pitchFamily="34" charset="0"/>
                <a:cs typeface="Arial" panose="020B0604020202020204" pitchFamily="34" charset="0"/>
              </a:rPr>
              <a:t>Phạm vi </a:t>
            </a:r>
            <a:r>
              <a:rPr lang="en-US" sz="2600" dirty="0" err="1">
                <a:latin typeface="Arial" panose="020B0604020202020204" pitchFamily="34" charset="0"/>
                <a:cs typeface="Arial" panose="020B0604020202020204" pitchFamily="34" charset="0"/>
              </a:rPr>
              <a:t>nghiên</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cứu</a:t>
            </a:r>
            <a:r>
              <a:rPr lang="en-US" sz="2600" dirty="0">
                <a:latin typeface="Arial" panose="020B0604020202020204" pitchFamily="34" charset="0"/>
                <a:cs typeface="Arial" panose="020B0604020202020204" pitchFamily="34" charset="0"/>
              </a:rPr>
              <a:t>:</a:t>
            </a:r>
          </a:p>
          <a:p>
            <a:pPr>
              <a:buFontTx/>
              <a:buChar char="-"/>
            </a:pPr>
            <a:r>
              <a:rPr lang="en-US" sz="2600" dirty="0" err="1">
                <a:latin typeface="Arial" panose="020B0604020202020204" pitchFamily="34" charset="0"/>
                <a:cs typeface="Arial" panose="020B0604020202020204" pitchFamily="34" charset="0"/>
              </a:rPr>
              <a:t>Áp</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dụng</a:t>
            </a:r>
            <a:r>
              <a:rPr lang="en-US" sz="2600" dirty="0">
                <a:latin typeface="Arial" panose="020B0604020202020204" pitchFamily="34" charset="0"/>
                <a:cs typeface="Arial" panose="020B0604020202020204" pitchFamily="34" charset="0"/>
              </a:rPr>
              <a:t> YOLOv11 </a:t>
            </a:r>
            <a:r>
              <a:rPr lang="en-US" sz="2600" dirty="0" err="1">
                <a:latin typeface="Arial" panose="020B0604020202020204" pitchFamily="34" charset="0"/>
                <a:cs typeface="Arial" panose="020B0604020202020204" pitchFamily="34" charset="0"/>
              </a:rPr>
              <a:t>trong</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bài</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toán</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phát</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hiện</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và</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đếm</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số</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lượng</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phương</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tiện</a:t>
            </a:r>
            <a:r>
              <a:rPr lang="en-US" sz="2600" dirty="0">
                <a:latin typeface="Arial" panose="020B0604020202020204" pitchFamily="34" charset="0"/>
                <a:cs typeface="Arial" panose="020B0604020202020204" pitchFamily="34" charset="0"/>
              </a:rPr>
              <a:t>.</a:t>
            </a:r>
          </a:p>
          <a:p>
            <a:pPr>
              <a:buFontTx/>
              <a:buChar char="-"/>
            </a:pPr>
            <a:r>
              <a:rPr lang="en-US" sz="2600" dirty="0" err="1">
                <a:latin typeface="Arial" panose="020B0604020202020204" pitchFamily="34" charset="0"/>
                <a:cs typeface="Arial" panose="020B0604020202020204" pitchFamily="34" charset="0"/>
              </a:rPr>
              <a:t>Dữ</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liệu</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sử</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dụng</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là</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hình</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ảnh</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và</a:t>
            </a:r>
            <a:r>
              <a:rPr lang="en-US" sz="2600" dirty="0">
                <a:latin typeface="Arial" panose="020B0604020202020204" pitchFamily="34" charset="0"/>
                <a:cs typeface="Arial" panose="020B0604020202020204" pitchFamily="34" charset="0"/>
              </a:rPr>
              <a:t> video </a:t>
            </a:r>
            <a:r>
              <a:rPr lang="en-US" sz="2600" dirty="0" err="1">
                <a:latin typeface="Arial" panose="020B0604020202020204" pitchFamily="34" charset="0"/>
                <a:cs typeface="Arial" panose="020B0604020202020204" pitchFamily="34" charset="0"/>
              </a:rPr>
              <a:t>giao</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thông</a:t>
            </a:r>
            <a:r>
              <a:rPr lang="en-US" sz="26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0483219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8B6B3A-0176-DC81-44F7-A143C0BD21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2A8660-D300-D859-4248-B75C57AE18F5}"/>
              </a:ext>
            </a:extLst>
          </p:cNvPr>
          <p:cNvSpPr>
            <a:spLocks noGrp="1"/>
          </p:cNvSpPr>
          <p:nvPr>
            <p:ph type="title"/>
          </p:nvPr>
        </p:nvSpPr>
        <p:spPr>
          <a:xfrm>
            <a:off x="841248" y="256032"/>
            <a:ext cx="10506456" cy="1014984"/>
          </a:xfrm>
        </p:spPr>
        <p:txBody>
          <a:bodyPr anchor="b">
            <a:normAutofit/>
          </a:bodyPr>
          <a:lstStyle/>
          <a:p>
            <a:r>
              <a:rPr lang="vi-VN" b="1" dirty="0">
                <a:latin typeface="Arial" panose="020B0604020202020204" pitchFamily="34" charset="0"/>
                <a:cs typeface="Arial" panose="020B0604020202020204" pitchFamily="34" charset="0"/>
              </a:rPr>
              <a:t>CƠ SỞ LÝ THUYẾT</a:t>
            </a:r>
            <a:endParaRPr lang="en-US" b="1" dirty="0">
              <a:latin typeface="Arial" panose="020B0604020202020204" pitchFamily="34" charset="0"/>
              <a:cs typeface="Arial" panose="020B0604020202020204" pitchFamily="34" charset="0"/>
            </a:endParaRPr>
          </a:p>
        </p:txBody>
      </p:sp>
      <p:sp>
        <p:nvSpPr>
          <p:cNvPr id="5" name="Content Placeholder 4">
            <a:extLst>
              <a:ext uri="{FF2B5EF4-FFF2-40B4-BE49-F238E27FC236}">
                <a16:creationId xmlns:a16="http://schemas.microsoft.com/office/drawing/2014/main" id="{8E23C805-FB45-9514-47C2-26801745FDC9}"/>
              </a:ext>
            </a:extLst>
          </p:cNvPr>
          <p:cNvSpPr>
            <a:spLocks noGrp="1"/>
          </p:cNvSpPr>
          <p:nvPr>
            <p:ph idx="1"/>
          </p:nvPr>
        </p:nvSpPr>
        <p:spPr>
          <a:xfrm>
            <a:off x="983225" y="1271016"/>
            <a:ext cx="3647770" cy="518455"/>
          </a:xfrm>
        </p:spPr>
        <p:txBody>
          <a:bodyPr>
            <a:noAutofit/>
          </a:bodyPr>
          <a:lstStyle/>
          <a:p>
            <a:pPr marL="0" indent="0">
              <a:buNone/>
            </a:pPr>
            <a:r>
              <a:rPr lang="en-US" sz="2600" b="1" dirty="0" err="1">
                <a:latin typeface="Arial" panose="020B0604020202020204" pitchFamily="34" charset="0"/>
                <a:cs typeface="Arial" panose="020B0604020202020204" pitchFamily="34" charset="0"/>
              </a:rPr>
              <a:t>Tổng</a:t>
            </a:r>
            <a:r>
              <a:rPr lang="en-US" sz="2600" b="1" dirty="0">
                <a:latin typeface="Arial" panose="020B0604020202020204" pitchFamily="34" charset="0"/>
                <a:cs typeface="Arial" panose="020B0604020202020204" pitchFamily="34" charset="0"/>
              </a:rPr>
              <a:t> </a:t>
            </a:r>
            <a:r>
              <a:rPr lang="en-US" sz="2600" b="1" dirty="0" err="1">
                <a:latin typeface="Arial" panose="020B0604020202020204" pitchFamily="34" charset="0"/>
                <a:cs typeface="Arial" panose="020B0604020202020204" pitchFamily="34" charset="0"/>
              </a:rPr>
              <a:t>quan</a:t>
            </a:r>
            <a:r>
              <a:rPr lang="en-US" sz="2600" b="1" dirty="0">
                <a:latin typeface="Arial" panose="020B0604020202020204" pitchFamily="34" charset="0"/>
                <a:cs typeface="Arial" panose="020B0604020202020204" pitchFamily="34" charset="0"/>
              </a:rPr>
              <a:t> </a:t>
            </a:r>
            <a:r>
              <a:rPr lang="en-US" sz="2600" b="1" dirty="0" err="1">
                <a:latin typeface="Arial" panose="020B0604020202020204" pitchFamily="34" charset="0"/>
                <a:cs typeface="Arial" panose="020B0604020202020204" pitchFamily="34" charset="0"/>
              </a:rPr>
              <a:t>về</a:t>
            </a:r>
            <a:r>
              <a:rPr lang="en-US" sz="2600" b="1" dirty="0">
                <a:latin typeface="Arial" panose="020B0604020202020204" pitchFamily="34" charset="0"/>
                <a:cs typeface="Arial" panose="020B0604020202020204" pitchFamily="34" charset="0"/>
              </a:rPr>
              <a:t> YOLO</a:t>
            </a:r>
          </a:p>
        </p:txBody>
      </p:sp>
      <p:sp>
        <p:nvSpPr>
          <p:cNvPr id="6" name="Content Placeholder 4">
            <a:extLst>
              <a:ext uri="{FF2B5EF4-FFF2-40B4-BE49-F238E27FC236}">
                <a16:creationId xmlns:a16="http://schemas.microsoft.com/office/drawing/2014/main" id="{EBA172EF-0B05-3C18-9622-8FEE4B97FFF3}"/>
              </a:ext>
            </a:extLst>
          </p:cNvPr>
          <p:cNvSpPr txBox="1">
            <a:spLocks/>
          </p:cNvSpPr>
          <p:nvPr/>
        </p:nvSpPr>
        <p:spPr>
          <a:xfrm>
            <a:off x="865953" y="2361363"/>
            <a:ext cx="6567234" cy="3443660"/>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600" dirty="0">
                <a:latin typeface="Arial" panose="020B0604020202020204" pitchFamily="34" charset="0"/>
                <a:cs typeface="Arial" panose="020B0604020202020204" pitchFamily="34" charset="0"/>
              </a:rPr>
              <a:t>YOLO (You Only Look Once) </a:t>
            </a:r>
            <a:r>
              <a:rPr lang="en-US" sz="2600" dirty="0" err="1">
                <a:latin typeface="Arial" panose="020B0604020202020204" pitchFamily="34" charset="0"/>
                <a:cs typeface="Arial" panose="020B0604020202020204" pitchFamily="34" charset="0"/>
              </a:rPr>
              <a:t>là</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một</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mô</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hình</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phát</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hiện</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đối</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tượng</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dựa</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trên</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học</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sâu</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cho</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phép</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phát</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hiện</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và</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phân</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loại</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đối</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tượng</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chỉ</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trong</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một</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lần</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dự</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đoán</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duy</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nhất</a:t>
            </a:r>
            <a:r>
              <a:rPr lang="en-US" sz="2600" dirty="0">
                <a:latin typeface="Arial" panose="020B0604020202020204" pitchFamily="34" charset="0"/>
                <a:cs typeface="Arial" panose="020B0604020202020204" pitchFamily="34" charset="0"/>
              </a:rPr>
              <a:t>.</a:t>
            </a:r>
          </a:p>
          <a:p>
            <a:pPr marL="0" indent="0">
              <a:buNone/>
            </a:pPr>
            <a:r>
              <a:rPr lang="en-US" sz="2600" dirty="0">
                <a:latin typeface="Arial" panose="020B0604020202020204" pitchFamily="34" charset="0"/>
                <a:cs typeface="Arial" panose="020B0604020202020204" pitchFamily="34" charset="0"/>
              </a:rPr>
              <a:t>YOLO </a:t>
            </a:r>
            <a:r>
              <a:rPr lang="en-US" sz="2600" dirty="0" err="1">
                <a:latin typeface="Arial" panose="020B0604020202020204" pitchFamily="34" charset="0"/>
                <a:cs typeface="Arial" panose="020B0604020202020204" pitchFamily="34" charset="0"/>
              </a:rPr>
              <a:t>có</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ưu</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điểm</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nổi</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bật</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về</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tốc</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độ</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xử</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lý</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nhanh</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phù</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hợp</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cho</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các</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ứng</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dụng</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giám</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sát</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theo</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thời</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gian</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thực</a:t>
            </a:r>
            <a:endParaRPr lang="en-US" sz="2600" dirty="0">
              <a:latin typeface="Arial" panose="020B0604020202020204" pitchFamily="34" charset="0"/>
              <a:cs typeface="Arial" panose="020B0604020202020204" pitchFamily="34" charset="0"/>
            </a:endParaRPr>
          </a:p>
        </p:txBody>
      </p:sp>
      <p:pic>
        <p:nvPicPr>
          <p:cNvPr id="4" name="Graphic 3">
            <a:extLst>
              <a:ext uri="{FF2B5EF4-FFF2-40B4-BE49-F238E27FC236}">
                <a16:creationId xmlns:a16="http://schemas.microsoft.com/office/drawing/2014/main" id="{C13FE0B3-026E-7F83-F90C-CD272D865DD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232266" y="2149576"/>
            <a:ext cx="3271476" cy="3443659"/>
          </a:xfrm>
          <a:prstGeom prst="rect">
            <a:avLst/>
          </a:prstGeom>
        </p:spPr>
      </p:pic>
    </p:spTree>
    <p:extLst>
      <p:ext uri="{BB962C8B-B14F-4D97-AF65-F5344CB8AC3E}">
        <p14:creationId xmlns:p14="http://schemas.microsoft.com/office/powerpoint/2010/main" val="6826580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2FBCF-8E30-C08F-5813-F4A56317CD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7D8F95-EAA8-4C4D-6D00-EBC14AD4EF0F}"/>
              </a:ext>
            </a:extLst>
          </p:cNvPr>
          <p:cNvSpPr>
            <a:spLocks noGrp="1"/>
          </p:cNvSpPr>
          <p:nvPr>
            <p:ph type="title"/>
          </p:nvPr>
        </p:nvSpPr>
        <p:spPr>
          <a:xfrm>
            <a:off x="841248" y="256032"/>
            <a:ext cx="10506456" cy="1014984"/>
          </a:xfrm>
        </p:spPr>
        <p:txBody>
          <a:bodyPr anchor="b">
            <a:normAutofit/>
          </a:bodyPr>
          <a:lstStyle/>
          <a:p>
            <a:r>
              <a:rPr lang="vi-VN" b="1">
                <a:latin typeface="Arial" panose="020B0604020202020204" pitchFamily="34" charset="0"/>
                <a:cs typeface="Arial" panose="020B0604020202020204" pitchFamily="34" charset="0"/>
              </a:rPr>
              <a:t>CƠ SỞ LÝ THUYẾT</a:t>
            </a:r>
            <a:endParaRPr lang="en-US" b="1">
              <a:latin typeface="Arial" panose="020B0604020202020204" pitchFamily="34" charset="0"/>
              <a:cs typeface="Arial" panose="020B0604020202020204" pitchFamily="34" charset="0"/>
            </a:endParaRPr>
          </a:p>
        </p:txBody>
      </p:sp>
      <p:sp>
        <p:nvSpPr>
          <p:cNvPr id="5" name="Content Placeholder 4">
            <a:extLst>
              <a:ext uri="{FF2B5EF4-FFF2-40B4-BE49-F238E27FC236}">
                <a16:creationId xmlns:a16="http://schemas.microsoft.com/office/drawing/2014/main" id="{8295DBE8-E553-BECE-2114-986C284E802F}"/>
              </a:ext>
            </a:extLst>
          </p:cNvPr>
          <p:cNvSpPr>
            <a:spLocks noGrp="1"/>
          </p:cNvSpPr>
          <p:nvPr>
            <p:ph idx="1"/>
          </p:nvPr>
        </p:nvSpPr>
        <p:spPr>
          <a:xfrm>
            <a:off x="949402" y="1402310"/>
            <a:ext cx="5490728" cy="526433"/>
          </a:xfrm>
        </p:spPr>
        <p:txBody>
          <a:bodyPr>
            <a:noAutofit/>
          </a:bodyPr>
          <a:lstStyle/>
          <a:p>
            <a:pPr marL="0" indent="0">
              <a:buNone/>
            </a:pPr>
            <a:r>
              <a:rPr lang="en-US" sz="2600" b="1" dirty="0" err="1">
                <a:latin typeface="Arial" panose="020B0604020202020204" pitchFamily="34" charset="0"/>
                <a:cs typeface="Arial" panose="020B0604020202020204" pitchFamily="34" charset="0"/>
              </a:rPr>
              <a:t>Mô</a:t>
            </a:r>
            <a:r>
              <a:rPr lang="en-US" sz="2600" b="1" dirty="0">
                <a:latin typeface="Arial" panose="020B0604020202020204" pitchFamily="34" charset="0"/>
                <a:cs typeface="Arial" panose="020B0604020202020204" pitchFamily="34" charset="0"/>
              </a:rPr>
              <a:t> </a:t>
            </a:r>
            <a:r>
              <a:rPr lang="en-US" sz="2600" b="1" dirty="0" err="1">
                <a:latin typeface="Arial" panose="020B0604020202020204" pitchFamily="34" charset="0"/>
                <a:cs typeface="Arial" panose="020B0604020202020204" pitchFamily="34" charset="0"/>
              </a:rPr>
              <a:t>hình</a:t>
            </a:r>
            <a:r>
              <a:rPr lang="en-US" sz="2600" b="1" dirty="0">
                <a:latin typeface="Arial" panose="020B0604020202020204" pitchFamily="34" charset="0"/>
                <a:cs typeface="Arial" panose="020B0604020202020204" pitchFamily="34" charset="0"/>
              </a:rPr>
              <a:t> YOLOv11</a:t>
            </a:r>
          </a:p>
        </p:txBody>
      </p:sp>
      <p:sp>
        <p:nvSpPr>
          <p:cNvPr id="3" name="TextBox 2">
            <a:extLst>
              <a:ext uri="{FF2B5EF4-FFF2-40B4-BE49-F238E27FC236}">
                <a16:creationId xmlns:a16="http://schemas.microsoft.com/office/drawing/2014/main" id="{BA56BD4D-BFC2-65AA-7ABD-8342A7F17D11}"/>
              </a:ext>
            </a:extLst>
          </p:cNvPr>
          <p:cNvSpPr txBox="1"/>
          <p:nvPr/>
        </p:nvSpPr>
        <p:spPr>
          <a:xfrm>
            <a:off x="707921" y="2271250"/>
            <a:ext cx="11149781" cy="2893100"/>
          </a:xfrm>
          <a:prstGeom prst="rect">
            <a:avLst/>
          </a:prstGeom>
          <a:noFill/>
        </p:spPr>
        <p:txBody>
          <a:bodyPr wrap="square" rtlCol="0">
            <a:spAutoFit/>
          </a:bodyPr>
          <a:lstStyle/>
          <a:p>
            <a:r>
              <a:rPr lang="en-US" sz="2600" dirty="0">
                <a:latin typeface="Arial" panose="020B0604020202020204" pitchFamily="34" charset="0"/>
                <a:cs typeface="Arial" panose="020B0604020202020204" pitchFamily="34" charset="0"/>
              </a:rPr>
              <a:t>YOLOv11 </a:t>
            </a:r>
            <a:r>
              <a:rPr lang="en-US" sz="2600" dirty="0" err="1">
                <a:latin typeface="Arial" panose="020B0604020202020204" pitchFamily="34" charset="0"/>
                <a:cs typeface="Arial" panose="020B0604020202020204" pitchFamily="34" charset="0"/>
              </a:rPr>
              <a:t>là</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phiên</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bản</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cải</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tiến</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của</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các</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mô</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hình</a:t>
            </a:r>
            <a:r>
              <a:rPr lang="en-US" sz="2600" dirty="0">
                <a:latin typeface="Arial" panose="020B0604020202020204" pitchFamily="34" charset="0"/>
                <a:cs typeface="Arial" panose="020B0604020202020204" pitchFamily="34" charset="0"/>
              </a:rPr>
              <a:t> YOLO </a:t>
            </a:r>
            <a:r>
              <a:rPr lang="en-US" sz="2600" dirty="0" err="1">
                <a:latin typeface="Arial" panose="020B0604020202020204" pitchFamily="34" charset="0"/>
                <a:cs typeface="Arial" panose="020B0604020202020204" pitchFamily="34" charset="0"/>
              </a:rPr>
              <a:t>trước</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đó</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với</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nhiều</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ưu</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điểm</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như</a:t>
            </a:r>
            <a:r>
              <a:rPr lang="en-US" sz="2600" dirty="0">
                <a:latin typeface="Arial" panose="020B0604020202020204" pitchFamily="34" charset="0"/>
                <a:cs typeface="Arial" panose="020B0604020202020204" pitchFamily="34" charset="0"/>
              </a:rPr>
              <a:t>:</a:t>
            </a:r>
          </a:p>
          <a:p>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Kiến</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trúc</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mạng</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được</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tối</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ưu</a:t>
            </a:r>
            <a:r>
              <a:rPr lang="en-US" sz="2600" dirty="0">
                <a:latin typeface="Arial" panose="020B0604020202020204" pitchFamily="34" charset="0"/>
                <a:cs typeface="Arial" panose="020B0604020202020204" pitchFamily="34" charset="0"/>
              </a:rPr>
              <a:t>.</a:t>
            </a:r>
          </a:p>
          <a:p>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Khả</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năng</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trích</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xuất</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đặc</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trưng</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hiệu</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quả</a:t>
            </a:r>
            <a:r>
              <a:rPr lang="en-US" sz="2600" dirty="0">
                <a:latin typeface="Arial" panose="020B0604020202020204" pitchFamily="34" charset="0"/>
                <a:cs typeface="Arial" panose="020B0604020202020204" pitchFamily="34" charset="0"/>
              </a:rPr>
              <a:t>.</a:t>
            </a:r>
          </a:p>
          <a:p>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Cân</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bằng</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tốt</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giữa</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độ</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chính</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xác</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và</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tốc</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độ</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xử</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lý</a:t>
            </a:r>
            <a:r>
              <a:rPr lang="en-US" sz="2600" dirty="0">
                <a:latin typeface="Arial" panose="020B0604020202020204" pitchFamily="34" charset="0"/>
                <a:cs typeface="Arial" panose="020B0604020202020204" pitchFamily="34" charset="0"/>
              </a:rPr>
              <a:t>.</a:t>
            </a:r>
          </a:p>
          <a:p>
            <a:r>
              <a:rPr lang="en-US" sz="2600" dirty="0">
                <a:latin typeface="Arial" panose="020B0604020202020204" pitchFamily="34" charset="0"/>
                <a:cs typeface="Arial" panose="020B0604020202020204" pitchFamily="34" charset="0"/>
              </a:rPr>
              <a:t>YOLOv11 </a:t>
            </a:r>
            <a:r>
              <a:rPr lang="en-US" sz="2600" dirty="0" err="1">
                <a:latin typeface="Arial" panose="020B0604020202020204" pitchFamily="34" charset="0"/>
                <a:cs typeface="Arial" panose="020B0604020202020204" pitchFamily="34" charset="0"/>
              </a:rPr>
              <a:t>đặc</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biệt</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phù</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hợp</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cho</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các</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bài</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toán</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phát</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hiện</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nhiều</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đối</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tượng</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trong</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cùng</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một</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khung</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hình</a:t>
            </a:r>
            <a:endParaRPr lang="en-US" sz="2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897585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90E2D1-507F-F5AE-5D48-AD4A8299D97C}"/>
              </a:ext>
            </a:extLst>
          </p:cNvPr>
          <p:cNvSpPr>
            <a:spLocks noGrp="1"/>
          </p:cNvSpPr>
          <p:nvPr>
            <p:ph type="title"/>
          </p:nvPr>
        </p:nvSpPr>
        <p:spPr>
          <a:xfrm>
            <a:off x="1115568" y="262030"/>
            <a:ext cx="5127916" cy="770358"/>
          </a:xfrm>
        </p:spPr>
        <p:txBody>
          <a:bodyPr/>
          <a:lstStyle/>
          <a:p>
            <a:r>
              <a:rPr lang="en-US" b="1" dirty="0">
                <a:latin typeface="Arial" panose="020B0604020202020204" pitchFamily="34" charset="0"/>
                <a:cs typeface="Arial" panose="020B0604020202020204" pitchFamily="34" charset="0"/>
              </a:rPr>
              <a:t>CƠ SỞ LÝ THUYẾT</a:t>
            </a:r>
          </a:p>
        </p:txBody>
      </p:sp>
      <p:sp>
        <p:nvSpPr>
          <p:cNvPr id="3" name="Content Placeholder 2">
            <a:extLst>
              <a:ext uri="{FF2B5EF4-FFF2-40B4-BE49-F238E27FC236}">
                <a16:creationId xmlns:a16="http://schemas.microsoft.com/office/drawing/2014/main" id="{B8AAE97D-B9CF-4ACE-81A7-2D46D8F793BB}"/>
              </a:ext>
            </a:extLst>
          </p:cNvPr>
          <p:cNvSpPr>
            <a:spLocks noGrp="1"/>
          </p:cNvSpPr>
          <p:nvPr>
            <p:ph idx="1"/>
          </p:nvPr>
        </p:nvSpPr>
        <p:spPr>
          <a:xfrm>
            <a:off x="437535" y="2036558"/>
            <a:ext cx="11316929" cy="3915400"/>
          </a:xfrm>
        </p:spPr>
        <p:txBody>
          <a:bodyPr>
            <a:normAutofit fontScale="92500" lnSpcReduction="20000"/>
          </a:bodyPr>
          <a:lstStyle/>
          <a:p>
            <a:pPr marL="0" indent="0">
              <a:buNone/>
            </a:pP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Độ</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chính</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xác</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cao</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mô</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hình</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gọn</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nhẹ</a:t>
            </a:r>
            <a:r>
              <a:rPr lang="en-US" sz="2600" dirty="0">
                <a:latin typeface="Arial" panose="020B0604020202020204" pitchFamily="34" charset="0"/>
                <a:cs typeface="Arial" panose="020B0604020202020204" pitchFamily="34" charset="0"/>
              </a:rPr>
              <a:t>: YOLOv11m </a:t>
            </a:r>
            <a:r>
              <a:rPr lang="en-US" sz="2600" dirty="0" err="1">
                <a:latin typeface="Arial" panose="020B0604020202020204" pitchFamily="34" charset="0"/>
                <a:cs typeface="Arial" panose="020B0604020202020204" pitchFamily="34" charset="0"/>
              </a:rPr>
              <a:t>đạt</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mAP</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cao</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hơn</a:t>
            </a:r>
            <a:r>
              <a:rPr lang="en-US" sz="2600" dirty="0">
                <a:latin typeface="Arial" panose="020B0604020202020204" pitchFamily="34" charset="0"/>
                <a:cs typeface="Arial" panose="020B0604020202020204" pitchFamily="34" charset="0"/>
              </a:rPr>
              <a:t> YOLOv8 </a:t>
            </a:r>
            <a:r>
              <a:rPr lang="en-US" sz="2600" dirty="0" err="1">
                <a:latin typeface="Arial" panose="020B0604020202020204" pitchFamily="34" charset="0"/>
                <a:cs typeface="Arial" panose="020B0604020202020204" pitchFamily="34" charset="0"/>
              </a:rPr>
              <a:t>trong</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khi</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giảm</a:t>
            </a:r>
            <a:r>
              <a:rPr lang="en-US" sz="2600" dirty="0">
                <a:latin typeface="Arial" panose="020B0604020202020204" pitchFamily="34" charset="0"/>
                <a:cs typeface="Arial" panose="020B0604020202020204" pitchFamily="34" charset="0"/>
              </a:rPr>
              <a:t> 22% </a:t>
            </a:r>
            <a:r>
              <a:rPr lang="en-US" sz="2600" dirty="0" err="1">
                <a:latin typeface="Arial" panose="020B0604020202020204" pitchFamily="34" charset="0"/>
                <a:cs typeface="Arial" panose="020B0604020202020204" pitchFamily="34" charset="0"/>
              </a:rPr>
              <a:t>số</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lượng</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tham</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số</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giúp</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tăng</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hiệu</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quả</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tính</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toán</a:t>
            </a:r>
            <a:r>
              <a:rPr lang="en-US" sz="2600" dirty="0">
                <a:latin typeface="Arial" panose="020B0604020202020204" pitchFamily="34" charset="0"/>
                <a:cs typeface="Arial" panose="020B0604020202020204" pitchFamily="34" charset="0"/>
              </a:rPr>
              <a:t>.</a:t>
            </a:r>
          </a:p>
          <a:p>
            <a:pPr marL="0" indent="0">
              <a:buNone/>
            </a:pP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Đa</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dạng</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ứng</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dụng</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Hỗ</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trợ</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nhiều</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tác</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vụ</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thị</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giác</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máy</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tính</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như</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phát</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hiện</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đối</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tượng</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phân</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loại</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ảnh</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phân</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đoạn</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và</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ước</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tính</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tư</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thế</a:t>
            </a:r>
            <a:r>
              <a:rPr lang="en-US" sz="2600" dirty="0">
                <a:latin typeface="Arial" panose="020B0604020202020204" pitchFamily="34" charset="0"/>
                <a:cs typeface="Arial" panose="020B0604020202020204" pitchFamily="34" charset="0"/>
              </a:rPr>
              <a:t>.</a:t>
            </a:r>
          </a:p>
          <a:p>
            <a:pPr marL="0" indent="0">
              <a:buNone/>
            </a:pP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Tốc</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độ</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xử</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lý</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nhanh</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Kiến</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trúc</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được</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tối</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ưu</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giúp</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mô</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hình</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đạt</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tốc</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độ</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xử</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lý</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cao</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mà</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vẫn</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đảm</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bảo</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độ</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chính</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xác</a:t>
            </a:r>
            <a:r>
              <a:rPr lang="en-US" sz="2600" dirty="0">
                <a:latin typeface="Arial" panose="020B0604020202020204" pitchFamily="34" charset="0"/>
                <a:cs typeface="Arial" panose="020B0604020202020204" pitchFamily="34" charset="0"/>
              </a:rPr>
              <a:t>.</a:t>
            </a:r>
          </a:p>
          <a:p>
            <a:pPr>
              <a:buFontTx/>
              <a:buChar char="-"/>
            </a:pPr>
            <a:r>
              <a:rPr lang="en-US" sz="2600" dirty="0" err="1">
                <a:latin typeface="Arial" panose="020B0604020202020204" pitchFamily="34" charset="0"/>
                <a:cs typeface="Arial" panose="020B0604020202020204" pitchFamily="34" charset="0"/>
              </a:rPr>
              <a:t>Trích</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xuất</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đặc</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trưng</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hiệu</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quả</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Cải</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tiến</a:t>
            </a:r>
            <a:r>
              <a:rPr lang="en-US" sz="2600" dirty="0">
                <a:latin typeface="Arial" panose="020B0604020202020204" pitchFamily="34" charset="0"/>
                <a:cs typeface="Arial" panose="020B0604020202020204" pitchFamily="34" charset="0"/>
              </a:rPr>
              <a:t> backbone </a:t>
            </a:r>
            <a:r>
              <a:rPr lang="en-US" sz="2600" dirty="0" err="1">
                <a:latin typeface="Arial" panose="020B0604020202020204" pitchFamily="34" charset="0"/>
                <a:cs typeface="Arial" panose="020B0604020202020204" pitchFamily="34" charset="0"/>
              </a:rPr>
              <a:t>và</a:t>
            </a:r>
            <a:r>
              <a:rPr lang="en-US" sz="2600" dirty="0">
                <a:latin typeface="Arial" panose="020B0604020202020204" pitchFamily="34" charset="0"/>
                <a:cs typeface="Arial" panose="020B0604020202020204" pitchFamily="34" charset="0"/>
              </a:rPr>
              <a:t> neck </a:t>
            </a:r>
            <a:r>
              <a:rPr lang="en-US" sz="2600" dirty="0" err="1">
                <a:latin typeface="Arial" panose="020B0604020202020204" pitchFamily="34" charset="0"/>
                <a:cs typeface="Arial" panose="020B0604020202020204" pitchFamily="34" charset="0"/>
              </a:rPr>
              <a:t>giúp</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nhận</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diện</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đối</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tượng</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chính</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xác</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hơn</a:t>
            </a:r>
            <a:r>
              <a:rPr lang="en-US" sz="2600" dirty="0">
                <a:latin typeface="Arial" panose="020B0604020202020204" pitchFamily="34" charset="0"/>
                <a:cs typeface="Arial" panose="020B0604020202020204" pitchFamily="34" charset="0"/>
              </a:rPr>
              <a:t>.</a:t>
            </a:r>
          </a:p>
          <a:p>
            <a:pPr>
              <a:buFontTx/>
              <a:buChar char="-"/>
            </a:pPr>
            <a:r>
              <a:rPr lang="en-US" sz="2600" dirty="0" err="1">
                <a:latin typeface="Arial" panose="020B0604020202020204" pitchFamily="34" charset="0"/>
                <a:cs typeface="Arial" panose="020B0604020202020204" pitchFamily="34" charset="0"/>
              </a:rPr>
              <a:t>Khả</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năng</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triển</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khai</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linh</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hoạt</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Phù</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hợp</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cho</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nhiều</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môi</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trường</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như</a:t>
            </a:r>
            <a:r>
              <a:rPr lang="en-US" sz="2600" dirty="0">
                <a:latin typeface="Arial" panose="020B0604020202020204" pitchFamily="34" charset="0"/>
                <a:cs typeface="Arial" panose="020B0604020202020204" pitchFamily="34" charset="0"/>
              </a:rPr>
              <a:t> cloud, </a:t>
            </a:r>
            <a:r>
              <a:rPr lang="en-US" sz="2600" dirty="0" err="1">
                <a:latin typeface="Arial" panose="020B0604020202020204" pitchFamily="34" charset="0"/>
                <a:cs typeface="Arial" panose="020B0604020202020204" pitchFamily="34" charset="0"/>
              </a:rPr>
              <a:t>thiết</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bị</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biên</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và</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hệ</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thống</a:t>
            </a:r>
            <a:r>
              <a:rPr lang="en-US" sz="2600" dirty="0">
                <a:latin typeface="Arial" panose="020B0604020202020204" pitchFamily="34" charset="0"/>
                <a:cs typeface="Arial" panose="020B0604020202020204" pitchFamily="34" charset="0"/>
              </a:rPr>
              <a:t> CPU NVDIA.</a:t>
            </a:r>
          </a:p>
        </p:txBody>
      </p:sp>
      <p:sp>
        <p:nvSpPr>
          <p:cNvPr id="5" name="Title 1">
            <a:extLst>
              <a:ext uri="{FF2B5EF4-FFF2-40B4-BE49-F238E27FC236}">
                <a16:creationId xmlns:a16="http://schemas.microsoft.com/office/drawing/2014/main" id="{7AAFCCD8-C302-8BA5-3B1B-1CF9268200D9}"/>
              </a:ext>
            </a:extLst>
          </p:cNvPr>
          <p:cNvSpPr txBox="1">
            <a:spLocks/>
          </p:cNvSpPr>
          <p:nvPr/>
        </p:nvSpPr>
        <p:spPr>
          <a:xfrm>
            <a:off x="1115567" y="906042"/>
            <a:ext cx="5629361" cy="84409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a:solidFill>
                  <a:schemeClr val="tx1"/>
                </a:solidFill>
                <a:latin typeface="+mj-lt"/>
                <a:ea typeface="+mj-ea"/>
                <a:cs typeface="+mj-cs"/>
              </a:defRPr>
            </a:lvl1pPr>
          </a:lstStyle>
          <a:p>
            <a:r>
              <a:rPr lang="en-US" sz="2600" b="1" dirty="0" err="1">
                <a:latin typeface="Arial" panose="020B0604020202020204" pitchFamily="34" charset="0"/>
                <a:cs typeface="Arial" panose="020B0604020202020204" pitchFamily="34" charset="0"/>
              </a:rPr>
              <a:t>Ưu</a:t>
            </a:r>
            <a:r>
              <a:rPr lang="en-US" sz="2600" b="1" dirty="0">
                <a:latin typeface="Arial" panose="020B0604020202020204" pitchFamily="34" charset="0"/>
                <a:cs typeface="Arial" panose="020B0604020202020204" pitchFamily="34" charset="0"/>
              </a:rPr>
              <a:t> </a:t>
            </a:r>
            <a:r>
              <a:rPr lang="en-US" sz="2600" b="1" dirty="0" err="1">
                <a:latin typeface="Arial" panose="020B0604020202020204" pitchFamily="34" charset="0"/>
                <a:cs typeface="Arial" panose="020B0604020202020204" pitchFamily="34" charset="0"/>
              </a:rPr>
              <a:t>điểm</a:t>
            </a:r>
            <a:r>
              <a:rPr lang="en-US" sz="2600" b="1" dirty="0">
                <a:latin typeface="Arial" panose="020B0604020202020204" pitchFamily="34" charset="0"/>
                <a:cs typeface="Arial" panose="020B0604020202020204" pitchFamily="34" charset="0"/>
              </a:rPr>
              <a:t> </a:t>
            </a:r>
            <a:r>
              <a:rPr lang="en-US" sz="2600" b="1" dirty="0" err="1">
                <a:latin typeface="Arial" panose="020B0604020202020204" pitchFamily="34" charset="0"/>
                <a:cs typeface="Arial" panose="020B0604020202020204" pitchFamily="34" charset="0"/>
              </a:rPr>
              <a:t>của</a:t>
            </a:r>
            <a:r>
              <a:rPr lang="en-US" sz="2600" b="1" dirty="0">
                <a:latin typeface="Arial" panose="020B0604020202020204" pitchFamily="34" charset="0"/>
                <a:cs typeface="Arial" panose="020B0604020202020204" pitchFamily="34" charset="0"/>
              </a:rPr>
              <a:t> </a:t>
            </a:r>
            <a:r>
              <a:rPr lang="en-US" sz="2600" b="1" dirty="0" err="1">
                <a:latin typeface="Arial" panose="020B0604020202020204" pitchFamily="34" charset="0"/>
                <a:cs typeface="Arial" panose="020B0604020202020204" pitchFamily="34" charset="0"/>
              </a:rPr>
              <a:t>mô</a:t>
            </a:r>
            <a:r>
              <a:rPr lang="en-US" sz="2600" b="1" dirty="0">
                <a:latin typeface="Arial" panose="020B0604020202020204" pitchFamily="34" charset="0"/>
                <a:cs typeface="Arial" panose="020B0604020202020204" pitchFamily="34" charset="0"/>
              </a:rPr>
              <a:t> </a:t>
            </a:r>
            <a:r>
              <a:rPr lang="en-US" sz="2600" b="1" dirty="0" err="1">
                <a:latin typeface="Arial" panose="020B0604020202020204" pitchFamily="34" charset="0"/>
                <a:cs typeface="Arial" panose="020B0604020202020204" pitchFamily="34" charset="0"/>
              </a:rPr>
              <a:t>hình</a:t>
            </a:r>
            <a:r>
              <a:rPr lang="en-US" sz="2600" b="1" dirty="0">
                <a:latin typeface="Arial" panose="020B0604020202020204" pitchFamily="34" charset="0"/>
                <a:cs typeface="Arial" panose="020B0604020202020204" pitchFamily="34" charset="0"/>
              </a:rPr>
              <a:t> YOLOv11</a:t>
            </a:r>
          </a:p>
        </p:txBody>
      </p:sp>
    </p:spTree>
    <p:extLst>
      <p:ext uri="{BB962C8B-B14F-4D97-AF65-F5344CB8AC3E}">
        <p14:creationId xmlns:p14="http://schemas.microsoft.com/office/powerpoint/2010/main" val="42066905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F3658C-C51C-55C8-C247-EC3EE76F1C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F50EC7-05A9-13A0-E4E5-139930C229DF}"/>
              </a:ext>
            </a:extLst>
          </p:cNvPr>
          <p:cNvSpPr>
            <a:spLocks noGrp="1"/>
          </p:cNvSpPr>
          <p:nvPr>
            <p:ph type="title"/>
          </p:nvPr>
        </p:nvSpPr>
        <p:spPr>
          <a:xfrm>
            <a:off x="841248" y="256032"/>
            <a:ext cx="10506456" cy="1014984"/>
          </a:xfrm>
        </p:spPr>
        <p:txBody>
          <a:bodyPr anchor="b">
            <a:normAutofit/>
          </a:bodyPr>
          <a:lstStyle/>
          <a:p>
            <a:r>
              <a:rPr lang="en-US" b="1" dirty="0">
                <a:latin typeface="Arial" panose="020B0604020202020204" pitchFamily="34" charset="0"/>
                <a:cs typeface="Arial" panose="020B0604020202020204" pitchFamily="34" charset="0"/>
              </a:rPr>
              <a:t>CƠ SỞ LÝ THUYẾT</a:t>
            </a:r>
          </a:p>
        </p:txBody>
      </p:sp>
      <p:sp>
        <p:nvSpPr>
          <p:cNvPr id="5" name="Content Placeholder 4">
            <a:extLst>
              <a:ext uri="{FF2B5EF4-FFF2-40B4-BE49-F238E27FC236}">
                <a16:creationId xmlns:a16="http://schemas.microsoft.com/office/drawing/2014/main" id="{907F34DE-C45F-2256-EF9A-A85572DA517B}"/>
              </a:ext>
            </a:extLst>
          </p:cNvPr>
          <p:cNvSpPr>
            <a:spLocks noGrp="1"/>
          </p:cNvSpPr>
          <p:nvPr>
            <p:ph idx="1"/>
          </p:nvPr>
        </p:nvSpPr>
        <p:spPr>
          <a:xfrm>
            <a:off x="939569" y="1402310"/>
            <a:ext cx="7870134" cy="526433"/>
          </a:xfrm>
        </p:spPr>
        <p:txBody>
          <a:bodyPr>
            <a:noAutofit/>
          </a:bodyPr>
          <a:lstStyle/>
          <a:p>
            <a:pPr marL="0" indent="0">
              <a:buNone/>
            </a:pPr>
            <a:r>
              <a:rPr lang="en-US" sz="2600" b="1" dirty="0" err="1">
                <a:latin typeface="Arial" panose="020B0604020202020204" pitchFamily="34" charset="0"/>
                <a:cs typeface="Arial" panose="020B0604020202020204" pitchFamily="34" charset="0"/>
              </a:rPr>
              <a:t>Phát</a:t>
            </a:r>
            <a:r>
              <a:rPr lang="en-US" sz="2600" b="1" dirty="0">
                <a:latin typeface="Arial" panose="020B0604020202020204" pitchFamily="34" charset="0"/>
                <a:cs typeface="Arial" panose="020B0604020202020204" pitchFamily="34" charset="0"/>
              </a:rPr>
              <a:t> </a:t>
            </a:r>
            <a:r>
              <a:rPr lang="en-US" sz="2600" b="1" dirty="0" err="1">
                <a:latin typeface="Arial" panose="020B0604020202020204" pitchFamily="34" charset="0"/>
                <a:cs typeface="Arial" panose="020B0604020202020204" pitchFamily="34" charset="0"/>
              </a:rPr>
              <a:t>hiện</a:t>
            </a:r>
            <a:r>
              <a:rPr lang="en-US" sz="2600" b="1" dirty="0">
                <a:latin typeface="Arial" panose="020B0604020202020204" pitchFamily="34" charset="0"/>
                <a:cs typeface="Arial" panose="020B0604020202020204" pitchFamily="34" charset="0"/>
              </a:rPr>
              <a:t> </a:t>
            </a:r>
            <a:r>
              <a:rPr lang="en-US" sz="2600" b="1" dirty="0" err="1">
                <a:latin typeface="Arial" panose="020B0604020202020204" pitchFamily="34" charset="0"/>
                <a:cs typeface="Arial" panose="020B0604020202020204" pitchFamily="34" charset="0"/>
              </a:rPr>
              <a:t>và</a:t>
            </a:r>
            <a:r>
              <a:rPr lang="en-US" sz="2600" b="1" dirty="0">
                <a:latin typeface="Arial" panose="020B0604020202020204" pitchFamily="34" charset="0"/>
                <a:cs typeface="Arial" panose="020B0604020202020204" pitchFamily="34" charset="0"/>
              </a:rPr>
              <a:t> </a:t>
            </a:r>
            <a:r>
              <a:rPr lang="en-US" sz="2600" b="1" dirty="0" err="1">
                <a:latin typeface="Arial" panose="020B0604020202020204" pitchFamily="34" charset="0"/>
                <a:cs typeface="Arial" panose="020B0604020202020204" pitchFamily="34" charset="0"/>
              </a:rPr>
              <a:t>đếm</a:t>
            </a:r>
            <a:r>
              <a:rPr lang="en-US" sz="2600" b="1" dirty="0">
                <a:latin typeface="Arial" panose="020B0604020202020204" pitchFamily="34" charset="0"/>
                <a:cs typeface="Arial" panose="020B0604020202020204" pitchFamily="34" charset="0"/>
              </a:rPr>
              <a:t> </a:t>
            </a:r>
            <a:r>
              <a:rPr lang="en-US" sz="2600" b="1" dirty="0" err="1">
                <a:latin typeface="Arial" panose="020B0604020202020204" pitchFamily="34" charset="0"/>
                <a:cs typeface="Arial" panose="020B0604020202020204" pitchFamily="34" charset="0"/>
              </a:rPr>
              <a:t>số</a:t>
            </a:r>
            <a:r>
              <a:rPr lang="en-US" sz="2600" b="1" dirty="0">
                <a:latin typeface="Arial" panose="020B0604020202020204" pitchFamily="34" charset="0"/>
                <a:cs typeface="Arial" panose="020B0604020202020204" pitchFamily="34" charset="0"/>
              </a:rPr>
              <a:t> </a:t>
            </a:r>
            <a:r>
              <a:rPr lang="en-US" sz="2600" b="1" dirty="0" err="1">
                <a:latin typeface="Arial" panose="020B0604020202020204" pitchFamily="34" charset="0"/>
                <a:cs typeface="Arial" panose="020B0604020202020204" pitchFamily="34" charset="0"/>
              </a:rPr>
              <a:t>lượng</a:t>
            </a:r>
            <a:r>
              <a:rPr lang="en-US" sz="2600" b="1" dirty="0">
                <a:latin typeface="Arial" panose="020B0604020202020204" pitchFamily="34" charset="0"/>
                <a:cs typeface="Arial" panose="020B0604020202020204" pitchFamily="34" charset="0"/>
              </a:rPr>
              <a:t> </a:t>
            </a:r>
            <a:r>
              <a:rPr lang="en-US" sz="2600" b="1" dirty="0" err="1">
                <a:latin typeface="Arial" panose="020B0604020202020204" pitchFamily="34" charset="0"/>
                <a:cs typeface="Arial" panose="020B0604020202020204" pitchFamily="34" charset="0"/>
              </a:rPr>
              <a:t>phương</a:t>
            </a:r>
            <a:r>
              <a:rPr lang="en-US" sz="2600" b="1" dirty="0">
                <a:latin typeface="Arial" panose="020B0604020202020204" pitchFamily="34" charset="0"/>
                <a:cs typeface="Arial" panose="020B0604020202020204" pitchFamily="34" charset="0"/>
              </a:rPr>
              <a:t> </a:t>
            </a:r>
            <a:r>
              <a:rPr lang="en-US" sz="2600" b="1" dirty="0" err="1">
                <a:latin typeface="Arial" panose="020B0604020202020204" pitchFamily="34" charset="0"/>
                <a:cs typeface="Arial" panose="020B0604020202020204" pitchFamily="34" charset="0"/>
              </a:rPr>
              <a:t>tiện</a:t>
            </a:r>
            <a:endParaRPr lang="en-US" sz="2600" b="1" dirty="0">
              <a:latin typeface="Arial" panose="020B0604020202020204" pitchFamily="34" charset="0"/>
              <a:cs typeface="Arial" panose="020B0604020202020204" pitchFamily="34" charset="0"/>
            </a:endParaRPr>
          </a:p>
        </p:txBody>
      </p:sp>
      <p:sp>
        <p:nvSpPr>
          <p:cNvPr id="6" name="Content Placeholder 4">
            <a:extLst>
              <a:ext uri="{FF2B5EF4-FFF2-40B4-BE49-F238E27FC236}">
                <a16:creationId xmlns:a16="http://schemas.microsoft.com/office/drawing/2014/main" id="{49BAA557-64B7-AAEA-F102-3A9D9CFD4D33}"/>
              </a:ext>
            </a:extLst>
          </p:cNvPr>
          <p:cNvSpPr txBox="1">
            <a:spLocks/>
          </p:cNvSpPr>
          <p:nvPr/>
        </p:nvSpPr>
        <p:spPr>
          <a:xfrm>
            <a:off x="841248" y="2361362"/>
            <a:ext cx="10908299" cy="4069583"/>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600" dirty="0" err="1">
                <a:latin typeface="Arial" panose="020B0604020202020204" pitchFamily="34" charset="0"/>
                <a:cs typeface="Arial" panose="020B0604020202020204" pitchFamily="34" charset="0"/>
              </a:rPr>
              <a:t>Phát</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hiện</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đối</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tượng</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xác</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định</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vị</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trí</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gán</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nhãn</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và</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tạo</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khung</a:t>
            </a:r>
            <a:r>
              <a:rPr lang="en-US" sz="2600" dirty="0">
                <a:latin typeface="Arial" panose="020B0604020202020204" pitchFamily="34" charset="0"/>
                <a:cs typeface="Arial" panose="020B0604020202020204" pitchFamily="34" charset="0"/>
              </a:rPr>
              <a:t> bao </a:t>
            </a:r>
            <a:r>
              <a:rPr lang="en-US" sz="2600" dirty="0" err="1">
                <a:latin typeface="Arial" panose="020B0604020202020204" pitchFamily="34" charset="0"/>
                <a:cs typeface="Arial" panose="020B0604020202020204" pitchFamily="34" charset="0"/>
              </a:rPr>
              <a:t>với</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tên</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của</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phương</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tiện</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kèm</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theo</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độ</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chính</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xác</a:t>
            </a:r>
            <a:r>
              <a:rPr lang="en-US" sz="2600" dirty="0">
                <a:latin typeface="Arial" panose="020B0604020202020204" pitchFamily="34" charset="0"/>
                <a:cs typeface="Arial" panose="020B0604020202020204" pitchFamily="34" charset="0"/>
              </a:rPr>
              <a:t>.</a:t>
            </a:r>
          </a:p>
          <a:p>
            <a:pPr marL="0" indent="0">
              <a:buNone/>
            </a:pPr>
            <a:r>
              <a:rPr lang="en-US" sz="2600" dirty="0" err="1">
                <a:latin typeface="Arial" panose="020B0604020202020204" pitchFamily="34" charset="0"/>
                <a:cs typeface="Arial" panose="020B0604020202020204" pitchFamily="34" charset="0"/>
              </a:rPr>
              <a:t>Đếm</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số</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lượng</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phương</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tiện</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Đếm</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số</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lượng</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từng</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loại</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phương</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tiện</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xuất</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hiện</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trong</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khung</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hình</a:t>
            </a:r>
            <a:r>
              <a:rPr lang="en-US" sz="2600" dirty="0">
                <a:latin typeface="Arial" panose="020B0604020202020204" pitchFamily="34" charset="0"/>
                <a:cs typeface="Arial" panose="020B0604020202020204" pitchFamily="34" charset="0"/>
              </a:rPr>
              <a:t>. </a:t>
            </a:r>
            <a:endParaRPr lang="vi-VN" sz="2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015517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1B649-F3FD-14E1-DF3A-A8C88C0E1B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5F7F4C-779D-323E-BFDD-5EB21F7F74B6}"/>
              </a:ext>
            </a:extLst>
          </p:cNvPr>
          <p:cNvSpPr>
            <a:spLocks noGrp="1"/>
          </p:cNvSpPr>
          <p:nvPr>
            <p:ph type="title"/>
          </p:nvPr>
        </p:nvSpPr>
        <p:spPr>
          <a:xfrm>
            <a:off x="841248" y="256032"/>
            <a:ext cx="10506456" cy="1014984"/>
          </a:xfrm>
        </p:spPr>
        <p:txBody>
          <a:bodyPr anchor="b">
            <a:normAutofit/>
          </a:bodyPr>
          <a:lstStyle/>
          <a:p>
            <a:r>
              <a:rPr lang="en-US" b="1" dirty="0">
                <a:latin typeface="Arial" panose="020B0604020202020204" pitchFamily="34" charset="0"/>
                <a:cs typeface="Arial" panose="020B0604020202020204" pitchFamily="34" charset="0"/>
              </a:rPr>
              <a:t>PHÂN TÍCH VÀ THIẾT KẾ HỆ THỐNG</a:t>
            </a:r>
          </a:p>
        </p:txBody>
      </p:sp>
      <p:sp>
        <p:nvSpPr>
          <p:cNvPr id="5" name="Content Placeholder 4">
            <a:extLst>
              <a:ext uri="{FF2B5EF4-FFF2-40B4-BE49-F238E27FC236}">
                <a16:creationId xmlns:a16="http://schemas.microsoft.com/office/drawing/2014/main" id="{56DF93F8-3E78-A1C3-12AC-269F7629A77D}"/>
              </a:ext>
            </a:extLst>
          </p:cNvPr>
          <p:cNvSpPr>
            <a:spLocks noGrp="1"/>
          </p:cNvSpPr>
          <p:nvPr>
            <p:ph idx="1"/>
          </p:nvPr>
        </p:nvSpPr>
        <p:spPr>
          <a:xfrm>
            <a:off x="939569" y="1402310"/>
            <a:ext cx="3504612" cy="526433"/>
          </a:xfrm>
        </p:spPr>
        <p:txBody>
          <a:bodyPr>
            <a:noAutofit/>
          </a:bodyPr>
          <a:lstStyle/>
          <a:p>
            <a:pPr marL="0" indent="0">
              <a:buNone/>
            </a:pPr>
            <a:r>
              <a:rPr lang="en-US" sz="2600" b="1" dirty="0" err="1">
                <a:latin typeface="Arial" panose="020B0604020202020204" pitchFamily="34" charset="0"/>
                <a:cs typeface="Arial" panose="020B0604020202020204" pitchFamily="34" charset="0"/>
              </a:rPr>
              <a:t>Mô</a:t>
            </a:r>
            <a:r>
              <a:rPr lang="en-US" sz="2600" b="1" dirty="0">
                <a:latin typeface="Arial" panose="020B0604020202020204" pitchFamily="34" charset="0"/>
                <a:cs typeface="Arial" panose="020B0604020202020204" pitchFamily="34" charset="0"/>
              </a:rPr>
              <a:t> </a:t>
            </a:r>
            <a:r>
              <a:rPr lang="en-US" sz="2600" b="1" dirty="0" err="1">
                <a:latin typeface="Arial" panose="020B0604020202020204" pitchFamily="34" charset="0"/>
                <a:cs typeface="Arial" panose="020B0604020202020204" pitchFamily="34" charset="0"/>
              </a:rPr>
              <a:t>tả</a:t>
            </a:r>
            <a:r>
              <a:rPr lang="en-US" sz="2600" b="1" dirty="0">
                <a:latin typeface="Arial" panose="020B0604020202020204" pitchFamily="34" charset="0"/>
                <a:cs typeface="Arial" panose="020B0604020202020204" pitchFamily="34" charset="0"/>
              </a:rPr>
              <a:t> </a:t>
            </a:r>
            <a:r>
              <a:rPr lang="en-US" sz="2600" b="1" dirty="0" err="1">
                <a:latin typeface="Arial" panose="020B0604020202020204" pitchFamily="34" charset="0"/>
                <a:cs typeface="Arial" panose="020B0604020202020204" pitchFamily="34" charset="0"/>
              </a:rPr>
              <a:t>bài</a:t>
            </a:r>
            <a:r>
              <a:rPr lang="en-US" sz="2600" b="1" dirty="0">
                <a:latin typeface="Arial" panose="020B0604020202020204" pitchFamily="34" charset="0"/>
                <a:cs typeface="Arial" panose="020B0604020202020204" pitchFamily="34" charset="0"/>
              </a:rPr>
              <a:t> </a:t>
            </a:r>
            <a:r>
              <a:rPr lang="en-US" sz="2600" b="1" dirty="0" err="1">
                <a:latin typeface="Arial" panose="020B0604020202020204" pitchFamily="34" charset="0"/>
                <a:cs typeface="Arial" panose="020B0604020202020204" pitchFamily="34" charset="0"/>
              </a:rPr>
              <a:t>toán</a:t>
            </a:r>
            <a:endParaRPr lang="en-US" sz="2600" b="1" dirty="0">
              <a:latin typeface="Arial" panose="020B0604020202020204" pitchFamily="34" charset="0"/>
              <a:cs typeface="Arial" panose="020B0604020202020204" pitchFamily="34" charset="0"/>
            </a:endParaRPr>
          </a:p>
        </p:txBody>
      </p:sp>
      <p:sp>
        <p:nvSpPr>
          <p:cNvPr id="6" name="Content Placeholder 4">
            <a:extLst>
              <a:ext uri="{FF2B5EF4-FFF2-40B4-BE49-F238E27FC236}">
                <a16:creationId xmlns:a16="http://schemas.microsoft.com/office/drawing/2014/main" id="{D49DB886-2EF8-4229-7BB5-99F736745772}"/>
              </a:ext>
            </a:extLst>
          </p:cNvPr>
          <p:cNvSpPr txBox="1">
            <a:spLocks/>
          </p:cNvSpPr>
          <p:nvPr/>
        </p:nvSpPr>
        <p:spPr>
          <a:xfrm>
            <a:off x="865953" y="2361362"/>
            <a:ext cx="10451592" cy="4069583"/>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600" dirty="0" err="1">
                <a:latin typeface="Arial" panose="020B0604020202020204" pitchFamily="34" charset="0"/>
                <a:cs typeface="Arial" panose="020B0604020202020204" pitchFamily="34" charset="0"/>
              </a:rPr>
              <a:t>Bài</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toán</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đặt</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ra</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là</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xây</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dựng</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một</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hệ</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thống</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có</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khả</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năng</a:t>
            </a:r>
            <a:r>
              <a:rPr lang="en-US" sz="2600" dirty="0">
                <a:latin typeface="Arial" panose="020B0604020202020204" pitchFamily="34" charset="0"/>
                <a:cs typeface="Arial" panose="020B0604020202020204" pitchFamily="34" charset="0"/>
              </a:rPr>
              <a:t>:</a:t>
            </a:r>
          </a:p>
          <a:p>
            <a:pPr>
              <a:buFontTx/>
              <a:buChar char="-"/>
            </a:pPr>
            <a:r>
              <a:rPr lang="en-US" sz="2600" dirty="0" err="1">
                <a:latin typeface="Arial" panose="020B0604020202020204" pitchFamily="34" charset="0"/>
                <a:cs typeface="Arial" panose="020B0604020202020204" pitchFamily="34" charset="0"/>
              </a:rPr>
              <a:t>Nhận</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dữ</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liệu</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đầu</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vào</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là</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hình</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ảnh</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và</a:t>
            </a:r>
            <a:r>
              <a:rPr lang="en-US" sz="2600" dirty="0">
                <a:latin typeface="Arial" panose="020B0604020202020204" pitchFamily="34" charset="0"/>
                <a:cs typeface="Arial" panose="020B0604020202020204" pitchFamily="34" charset="0"/>
              </a:rPr>
              <a:t> video </a:t>
            </a:r>
            <a:r>
              <a:rPr lang="en-US" sz="2600" dirty="0" err="1">
                <a:latin typeface="Arial" panose="020B0604020202020204" pitchFamily="34" charset="0"/>
                <a:cs typeface="Arial" panose="020B0604020202020204" pitchFamily="34" charset="0"/>
              </a:rPr>
              <a:t>giao</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thông</a:t>
            </a:r>
            <a:r>
              <a:rPr lang="en-US" sz="2600" dirty="0">
                <a:latin typeface="Arial" panose="020B0604020202020204" pitchFamily="34" charset="0"/>
                <a:cs typeface="Arial" panose="020B0604020202020204" pitchFamily="34" charset="0"/>
              </a:rPr>
              <a:t>.</a:t>
            </a:r>
          </a:p>
          <a:p>
            <a:pPr>
              <a:buFontTx/>
              <a:buChar char="-"/>
            </a:pPr>
            <a:r>
              <a:rPr lang="en-US" sz="2600" dirty="0" err="1">
                <a:latin typeface="Arial" panose="020B0604020202020204" pitchFamily="34" charset="0"/>
                <a:cs typeface="Arial" panose="020B0604020202020204" pitchFamily="34" charset="0"/>
              </a:rPr>
              <a:t>Phát</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hiện</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các</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phương</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tiện</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xuất</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hiện</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trong</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khung</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hình</a:t>
            </a:r>
            <a:r>
              <a:rPr lang="en-US" sz="2600" dirty="0">
                <a:latin typeface="Arial" panose="020B0604020202020204" pitchFamily="34" charset="0"/>
                <a:cs typeface="Arial" panose="020B0604020202020204" pitchFamily="34" charset="0"/>
              </a:rPr>
              <a:t>.</a:t>
            </a:r>
          </a:p>
          <a:p>
            <a:pPr>
              <a:buFontTx/>
              <a:buChar char="-"/>
            </a:pPr>
            <a:r>
              <a:rPr lang="en-US" sz="2600" dirty="0" err="1">
                <a:latin typeface="Arial" panose="020B0604020202020204" pitchFamily="34" charset="0"/>
                <a:cs typeface="Arial" panose="020B0604020202020204" pitchFamily="34" charset="0"/>
              </a:rPr>
              <a:t>Đếm</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số</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lượng</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phương</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tiện</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một</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cách</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tự</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động</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và</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chính</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xác</a:t>
            </a:r>
            <a:r>
              <a:rPr lang="en-US" sz="26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11276265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13856-4896-98BC-E7BF-8667D189E7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F6BE81-6595-73F5-E3C5-F316D24C8311}"/>
              </a:ext>
            </a:extLst>
          </p:cNvPr>
          <p:cNvSpPr>
            <a:spLocks noGrp="1"/>
          </p:cNvSpPr>
          <p:nvPr>
            <p:ph type="title"/>
          </p:nvPr>
        </p:nvSpPr>
        <p:spPr>
          <a:xfrm>
            <a:off x="688061" y="315763"/>
            <a:ext cx="10506456" cy="740074"/>
          </a:xfrm>
        </p:spPr>
        <p:txBody>
          <a:bodyPr anchor="b">
            <a:normAutofit/>
          </a:bodyPr>
          <a:lstStyle/>
          <a:p>
            <a:r>
              <a:rPr lang="vi-VN" b="1" dirty="0">
                <a:latin typeface="Arial" panose="020B0604020202020204" pitchFamily="34" charset="0"/>
                <a:cs typeface="Arial" panose="020B0604020202020204" pitchFamily="34" charset="0"/>
              </a:rPr>
              <a:t>PHÂN TÍCH VÀ THIẾT KẾ </a:t>
            </a:r>
            <a:r>
              <a:rPr lang="en-US" b="1" dirty="0">
                <a:latin typeface="Arial" panose="020B0604020202020204" pitchFamily="34" charset="0"/>
                <a:cs typeface="Arial" panose="020B0604020202020204" pitchFamily="34" charset="0"/>
              </a:rPr>
              <a:t>HỆ THỐNG</a:t>
            </a:r>
            <a:r>
              <a:rPr lang="vi-VN" b="1" dirty="0">
                <a:latin typeface="Arial" panose="020B0604020202020204" pitchFamily="34" charset="0"/>
                <a:cs typeface="Arial" panose="020B0604020202020204" pitchFamily="34" charset="0"/>
              </a:rPr>
              <a:t> </a:t>
            </a:r>
            <a:endParaRPr lang="en-US" b="1" dirty="0">
              <a:latin typeface="Arial" panose="020B0604020202020204" pitchFamily="34" charset="0"/>
              <a:cs typeface="Arial" panose="020B0604020202020204" pitchFamily="34" charset="0"/>
            </a:endParaRPr>
          </a:p>
        </p:txBody>
      </p:sp>
      <p:sp>
        <p:nvSpPr>
          <p:cNvPr id="6" name="Content Placeholder 4">
            <a:extLst>
              <a:ext uri="{FF2B5EF4-FFF2-40B4-BE49-F238E27FC236}">
                <a16:creationId xmlns:a16="http://schemas.microsoft.com/office/drawing/2014/main" id="{4E3CBB73-691A-179C-7468-E01ECF5F645B}"/>
              </a:ext>
            </a:extLst>
          </p:cNvPr>
          <p:cNvSpPr txBox="1">
            <a:spLocks/>
          </p:cNvSpPr>
          <p:nvPr/>
        </p:nvSpPr>
        <p:spPr>
          <a:xfrm>
            <a:off x="865953" y="2361363"/>
            <a:ext cx="10451592" cy="4039438"/>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sz="2600" dirty="0">
                <a:latin typeface="Arial" panose="020B0604020202020204" pitchFamily="34" charset="0"/>
                <a:cs typeface="Arial" panose="020B0604020202020204" pitchFamily="34" charset="0"/>
              </a:rPr>
              <a:t>- Thu </a:t>
            </a:r>
            <a:r>
              <a:rPr lang="en-US" sz="2600" dirty="0" err="1">
                <a:latin typeface="Arial" panose="020B0604020202020204" pitchFamily="34" charset="0"/>
                <a:cs typeface="Arial" panose="020B0604020202020204" pitchFamily="34" charset="0"/>
              </a:rPr>
              <a:t>thập</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và</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chuẩn</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bị</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dữ</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liệu</a:t>
            </a:r>
            <a:endParaRPr lang="en-US" sz="2600" dirty="0">
              <a:latin typeface="Arial" panose="020B0604020202020204" pitchFamily="34" charset="0"/>
              <a:cs typeface="Arial" panose="020B0604020202020204" pitchFamily="34" charset="0"/>
            </a:endParaRPr>
          </a:p>
          <a:p>
            <a:pPr marL="0" indent="0" algn="just">
              <a:buNone/>
            </a:pP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Gán</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nhãn</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và</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tạo</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khung</a:t>
            </a:r>
            <a:r>
              <a:rPr lang="en-US" sz="2600" dirty="0">
                <a:latin typeface="Arial" panose="020B0604020202020204" pitchFamily="34" charset="0"/>
                <a:cs typeface="Arial" panose="020B0604020202020204" pitchFamily="34" charset="0"/>
              </a:rPr>
              <a:t> bao </a:t>
            </a:r>
            <a:r>
              <a:rPr lang="en-US" sz="2600" dirty="0" err="1">
                <a:latin typeface="Arial" panose="020B0604020202020204" pitchFamily="34" charset="0"/>
                <a:cs typeface="Arial" panose="020B0604020202020204" pitchFamily="34" charset="0"/>
              </a:rPr>
              <a:t>cho</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từng</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đối</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tượng</a:t>
            </a:r>
            <a:endParaRPr lang="en-US" sz="2600" dirty="0">
              <a:latin typeface="Arial" panose="020B0604020202020204" pitchFamily="34" charset="0"/>
              <a:cs typeface="Arial" panose="020B0604020202020204" pitchFamily="34" charset="0"/>
            </a:endParaRPr>
          </a:p>
          <a:p>
            <a:pPr marL="0" indent="0" algn="just">
              <a:buNone/>
            </a:pP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Huấn</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luyện</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mô</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hình</a:t>
            </a:r>
            <a:r>
              <a:rPr lang="en-US" sz="2600" dirty="0">
                <a:latin typeface="Arial" panose="020B0604020202020204" pitchFamily="34" charset="0"/>
                <a:cs typeface="Arial" panose="020B0604020202020204" pitchFamily="34" charset="0"/>
              </a:rPr>
              <a:t> YOLOv11</a:t>
            </a:r>
          </a:p>
          <a:p>
            <a:pPr marL="0" indent="0" algn="just">
              <a:buNone/>
            </a:pP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Kiểm</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tra</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và</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đánh</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giá</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lại</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mô</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hình</a:t>
            </a:r>
            <a:endParaRPr lang="en-US" sz="2600" dirty="0">
              <a:latin typeface="Arial" panose="020B0604020202020204" pitchFamily="34" charset="0"/>
              <a:cs typeface="Arial" panose="020B0604020202020204" pitchFamily="34" charset="0"/>
            </a:endParaRPr>
          </a:p>
          <a:p>
            <a:pPr marL="0" indent="0" algn="just">
              <a:buNone/>
            </a:pP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Ứng</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dụng</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mô</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hình</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để</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phát</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hiện</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và</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đếm</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phương</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tiện</a:t>
            </a:r>
            <a:endParaRPr lang="en-US" sz="2600" dirty="0">
              <a:latin typeface="Arial" panose="020B0604020202020204" pitchFamily="34" charset="0"/>
              <a:cs typeface="Arial" panose="020B0604020202020204" pitchFamily="34" charset="0"/>
            </a:endParaRPr>
          </a:p>
        </p:txBody>
      </p:sp>
      <p:sp>
        <p:nvSpPr>
          <p:cNvPr id="3" name="Content Placeholder 4">
            <a:extLst>
              <a:ext uri="{FF2B5EF4-FFF2-40B4-BE49-F238E27FC236}">
                <a16:creationId xmlns:a16="http://schemas.microsoft.com/office/drawing/2014/main" id="{7281059A-14CC-6F78-7FB6-4EA559A1B3B3}"/>
              </a:ext>
            </a:extLst>
          </p:cNvPr>
          <p:cNvSpPr txBox="1">
            <a:spLocks/>
          </p:cNvSpPr>
          <p:nvPr/>
        </p:nvSpPr>
        <p:spPr>
          <a:xfrm>
            <a:off x="772421" y="1182166"/>
            <a:ext cx="4301024" cy="526433"/>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vi-VN" sz="2400" b="1" dirty="0">
                <a:latin typeface="Arial" panose="020B0604020202020204" pitchFamily="34" charset="0"/>
                <a:cs typeface="Arial" panose="020B0604020202020204" pitchFamily="34" charset="0"/>
              </a:rPr>
              <a:t> </a:t>
            </a:r>
            <a:r>
              <a:rPr lang="en-US" sz="2600" b="1" dirty="0">
                <a:latin typeface="Arial" panose="020B0604020202020204" pitchFamily="34" charset="0"/>
                <a:cs typeface="Arial" panose="020B0604020202020204" pitchFamily="34" charset="0"/>
              </a:rPr>
              <a:t>Quy </a:t>
            </a:r>
            <a:r>
              <a:rPr lang="en-US" sz="2600" b="1" dirty="0" err="1">
                <a:latin typeface="Arial" panose="020B0604020202020204" pitchFamily="34" charset="0"/>
                <a:cs typeface="Arial" panose="020B0604020202020204" pitchFamily="34" charset="0"/>
              </a:rPr>
              <a:t>trình</a:t>
            </a:r>
            <a:r>
              <a:rPr lang="en-US" sz="2600" b="1" dirty="0">
                <a:latin typeface="Arial" panose="020B0604020202020204" pitchFamily="34" charset="0"/>
                <a:cs typeface="Arial" panose="020B0604020202020204" pitchFamily="34" charset="0"/>
              </a:rPr>
              <a:t> </a:t>
            </a:r>
            <a:r>
              <a:rPr lang="en-US" sz="2600" b="1" dirty="0" err="1">
                <a:latin typeface="Arial" panose="020B0604020202020204" pitchFamily="34" charset="0"/>
                <a:cs typeface="Arial" panose="020B0604020202020204" pitchFamily="34" charset="0"/>
              </a:rPr>
              <a:t>thực</a:t>
            </a:r>
            <a:r>
              <a:rPr lang="en-US" sz="2600" b="1" dirty="0">
                <a:latin typeface="Arial" panose="020B0604020202020204" pitchFamily="34" charset="0"/>
                <a:cs typeface="Arial" panose="020B0604020202020204" pitchFamily="34" charset="0"/>
              </a:rPr>
              <a:t> </a:t>
            </a:r>
            <a:r>
              <a:rPr lang="en-US" sz="2600" b="1" dirty="0" err="1">
                <a:latin typeface="Arial" panose="020B0604020202020204" pitchFamily="34" charset="0"/>
                <a:cs typeface="Arial" panose="020B0604020202020204" pitchFamily="34" charset="0"/>
              </a:rPr>
              <a:t>hiện</a:t>
            </a:r>
            <a:endParaRPr lang="en-US" sz="26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65669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A91A68-6309-4148-C701-CBACC96BBC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C54C5C-2901-1B3C-6C01-ED8C6AE384DF}"/>
              </a:ext>
            </a:extLst>
          </p:cNvPr>
          <p:cNvSpPr>
            <a:spLocks noGrp="1"/>
          </p:cNvSpPr>
          <p:nvPr>
            <p:ph type="title"/>
          </p:nvPr>
        </p:nvSpPr>
        <p:spPr>
          <a:xfrm>
            <a:off x="777240" y="327792"/>
            <a:ext cx="10506456" cy="740074"/>
          </a:xfrm>
        </p:spPr>
        <p:txBody>
          <a:bodyPr anchor="b">
            <a:normAutofit/>
          </a:bodyPr>
          <a:lstStyle/>
          <a:p>
            <a:r>
              <a:rPr lang="en-US" b="1" dirty="0">
                <a:latin typeface="Arial" panose="020B0604020202020204" pitchFamily="34" charset="0"/>
                <a:cs typeface="Arial" panose="020B0604020202020204" pitchFamily="34" charset="0"/>
              </a:rPr>
              <a:t>KẾT QUẢ NGHIÊN CỨU</a:t>
            </a:r>
          </a:p>
        </p:txBody>
      </p:sp>
      <p:sp>
        <p:nvSpPr>
          <p:cNvPr id="6" name="Content Placeholder 4">
            <a:extLst>
              <a:ext uri="{FF2B5EF4-FFF2-40B4-BE49-F238E27FC236}">
                <a16:creationId xmlns:a16="http://schemas.microsoft.com/office/drawing/2014/main" id="{838D1E70-2E4F-21E5-6A6C-B1458FE6A5B1}"/>
              </a:ext>
            </a:extLst>
          </p:cNvPr>
          <p:cNvSpPr txBox="1">
            <a:spLocks/>
          </p:cNvSpPr>
          <p:nvPr/>
        </p:nvSpPr>
        <p:spPr>
          <a:xfrm>
            <a:off x="865953" y="2263041"/>
            <a:ext cx="5623337" cy="4039438"/>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None/>
            </a:pP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Mô</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hình</a:t>
            </a:r>
            <a:r>
              <a:rPr lang="en-US" sz="2600" dirty="0">
                <a:latin typeface="Arial" panose="020B0604020202020204" pitchFamily="34" charset="0"/>
                <a:cs typeface="Arial" panose="020B0604020202020204" pitchFamily="34" charset="0"/>
              </a:rPr>
              <a:t> YOLOv11 </a:t>
            </a:r>
            <a:r>
              <a:rPr lang="en-US" sz="2600" dirty="0" err="1">
                <a:latin typeface="Arial" panose="020B0604020202020204" pitchFamily="34" charset="0"/>
                <a:cs typeface="Arial" panose="020B0604020202020204" pitchFamily="34" charset="0"/>
              </a:rPr>
              <a:t>phát</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hiện</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tốt</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các</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phương</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tiện</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phổ</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biến</a:t>
            </a:r>
            <a:r>
              <a:rPr lang="en-US" sz="2600" dirty="0">
                <a:latin typeface="Arial" panose="020B0604020202020204" pitchFamily="34" charset="0"/>
                <a:cs typeface="Arial" panose="020B0604020202020204" pitchFamily="34" charset="0"/>
              </a:rPr>
              <a:t>.</a:t>
            </a:r>
          </a:p>
          <a:p>
            <a:pPr marL="0" lvl="0" indent="0">
              <a:buNone/>
            </a:pP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Hoạt</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động</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ổn</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định</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trong</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điều</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kiện</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ánh</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sáng</a:t>
            </a:r>
            <a:r>
              <a:rPr lang="en-US" sz="2600" dirty="0">
                <a:latin typeface="Arial" panose="020B0604020202020204" pitchFamily="34" charset="0"/>
                <a:cs typeface="Arial" panose="020B0604020202020204" pitchFamily="34" charset="0"/>
              </a:rPr>
              <a:t> ban </a:t>
            </a:r>
            <a:r>
              <a:rPr lang="en-US" sz="2600" dirty="0" err="1">
                <a:latin typeface="Arial" panose="020B0604020202020204" pitchFamily="34" charset="0"/>
                <a:cs typeface="Arial" panose="020B0604020202020204" pitchFamily="34" charset="0"/>
              </a:rPr>
              <a:t>ngày</a:t>
            </a:r>
            <a:r>
              <a:rPr lang="en-US" sz="2600" dirty="0">
                <a:latin typeface="Arial" panose="020B0604020202020204" pitchFamily="34" charset="0"/>
                <a:cs typeface="Arial" panose="020B0604020202020204" pitchFamily="34" charset="0"/>
              </a:rPr>
              <a:t>.</a:t>
            </a:r>
          </a:p>
          <a:p>
            <a:pPr marL="0" lvl="0" indent="0">
              <a:buNone/>
            </a:pP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Hạn</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chế</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bỏ</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sót</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đối</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tượng</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trong</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môi</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trường</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giao</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thông</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đông</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đúc</a:t>
            </a:r>
            <a:r>
              <a:rPr lang="en-US" sz="2600" dirty="0">
                <a:latin typeface="Arial" panose="020B0604020202020204" pitchFamily="34" charset="0"/>
                <a:cs typeface="Arial" panose="020B0604020202020204" pitchFamily="34" charset="0"/>
              </a:rPr>
              <a:t>.</a:t>
            </a:r>
          </a:p>
        </p:txBody>
      </p:sp>
      <p:sp>
        <p:nvSpPr>
          <p:cNvPr id="3" name="Content Placeholder 4">
            <a:extLst>
              <a:ext uri="{FF2B5EF4-FFF2-40B4-BE49-F238E27FC236}">
                <a16:creationId xmlns:a16="http://schemas.microsoft.com/office/drawing/2014/main" id="{EDE4E059-7362-EA1B-82CF-5A65DBCCB12A}"/>
              </a:ext>
            </a:extLst>
          </p:cNvPr>
          <p:cNvSpPr txBox="1">
            <a:spLocks/>
          </p:cNvSpPr>
          <p:nvPr/>
        </p:nvSpPr>
        <p:spPr>
          <a:xfrm>
            <a:off x="865953" y="1067866"/>
            <a:ext cx="5023570" cy="526433"/>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vi-VN"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Kết</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quả</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phát</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hiện</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phương</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tiện</a:t>
            </a:r>
            <a:endParaRPr lang="en-US" sz="2400" b="1" dirty="0">
              <a:latin typeface="Arial" panose="020B0604020202020204" pitchFamily="34" charset="0"/>
              <a:cs typeface="Arial" panose="020B0604020202020204" pitchFamily="34" charset="0"/>
            </a:endParaRPr>
          </a:p>
        </p:txBody>
      </p:sp>
      <p:pic>
        <p:nvPicPr>
          <p:cNvPr id="9" name="Picture 8" descr="A group of people on motorcycles crossing a street&#10;&#10;AI-generated content may be incorrect.">
            <a:extLst>
              <a:ext uri="{FF2B5EF4-FFF2-40B4-BE49-F238E27FC236}">
                <a16:creationId xmlns:a16="http://schemas.microsoft.com/office/drawing/2014/main" id="{0D204A02-B42E-E59E-8322-37AB0945A7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89290" y="2263041"/>
            <a:ext cx="5353628" cy="3636314"/>
          </a:xfrm>
          <a:prstGeom prst="rect">
            <a:avLst/>
          </a:prstGeom>
        </p:spPr>
      </p:pic>
    </p:spTree>
    <p:extLst>
      <p:ext uri="{BB962C8B-B14F-4D97-AF65-F5344CB8AC3E}">
        <p14:creationId xmlns:p14="http://schemas.microsoft.com/office/powerpoint/2010/main" val="16425843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2997E1-8036-9262-4B7D-9DDD1116D9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7328FA-222B-E23B-5949-C5A7E4CE9BAC}"/>
              </a:ext>
            </a:extLst>
          </p:cNvPr>
          <p:cNvSpPr>
            <a:spLocks noGrp="1"/>
          </p:cNvSpPr>
          <p:nvPr>
            <p:ph type="title"/>
          </p:nvPr>
        </p:nvSpPr>
        <p:spPr>
          <a:xfrm>
            <a:off x="841248" y="256032"/>
            <a:ext cx="10506456" cy="1014984"/>
          </a:xfrm>
        </p:spPr>
        <p:txBody>
          <a:bodyPr anchor="b">
            <a:normAutofit/>
          </a:bodyPr>
          <a:lstStyle/>
          <a:p>
            <a:r>
              <a:rPr lang="en-US" b="1" dirty="0">
                <a:latin typeface="Arial" panose="020B0604020202020204" pitchFamily="34" charset="0"/>
                <a:cs typeface="Arial" panose="020B0604020202020204" pitchFamily="34" charset="0"/>
              </a:rPr>
              <a:t>KẾT QUẢ NGHIÊN CỨU</a:t>
            </a:r>
          </a:p>
        </p:txBody>
      </p:sp>
      <p:sp>
        <p:nvSpPr>
          <p:cNvPr id="5" name="Content Placeholder 4">
            <a:extLst>
              <a:ext uri="{FF2B5EF4-FFF2-40B4-BE49-F238E27FC236}">
                <a16:creationId xmlns:a16="http://schemas.microsoft.com/office/drawing/2014/main" id="{7A505022-4966-C385-F7C0-2DA8E8A67D6A}"/>
              </a:ext>
            </a:extLst>
          </p:cNvPr>
          <p:cNvSpPr>
            <a:spLocks noGrp="1"/>
          </p:cNvSpPr>
          <p:nvPr>
            <p:ph idx="1"/>
          </p:nvPr>
        </p:nvSpPr>
        <p:spPr>
          <a:xfrm>
            <a:off x="939568" y="1402310"/>
            <a:ext cx="4025721" cy="526433"/>
          </a:xfrm>
        </p:spPr>
        <p:txBody>
          <a:bodyPr>
            <a:noAutofit/>
          </a:bodyPr>
          <a:lstStyle/>
          <a:p>
            <a:pPr marL="0" indent="0">
              <a:buNone/>
            </a:pPr>
            <a:r>
              <a:rPr lang="en-US" sz="2400" b="1" dirty="0" err="1">
                <a:latin typeface="Arial" panose="020B0604020202020204" pitchFamily="34" charset="0"/>
                <a:cs typeface="Arial" panose="020B0604020202020204" pitchFamily="34" charset="0"/>
              </a:rPr>
              <a:t>Kết</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quả</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đếm</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phương</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tiện</a:t>
            </a:r>
            <a:endParaRPr lang="en-US" sz="2400" b="1" dirty="0">
              <a:latin typeface="Arial" panose="020B0604020202020204" pitchFamily="34" charset="0"/>
              <a:cs typeface="Arial" panose="020B0604020202020204" pitchFamily="34" charset="0"/>
            </a:endParaRPr>
          </a:p>
        </p:txBody>
      </p:sp>
      <p:sp>
        <p:nvSpPr>
          <p:cNvPr id="6" name="Content Placeholder 4">
            <a:extLst>
              <a:ext uri="{FF2B5EF4-FFF2-40B4-BE49-F238E27FC236}">
                <a16:creationId xmlns:a16="http://schemas.microsoft.com/office/drawing/2014/main" id="{2147E615-90B6-C6CE-378D-858C83ADA212}"/>
              </a:ext>
            </a:extLst>
          </p:cNvPr>
          <p:cNvSpPr txBox="1">
            <a:spLocks/>
          </p:cNvSpPr>
          <p:nvPr/>
        </p:nvSpPr>
        <p:spPr>
          <a:xfrm>
            <a:off x="865953" y="2361362"/>
            <a:ext cx="10451592" cy="4069583"/>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endParaRPr lang="en-US" sz="5400">
              <a:latin typeface="Arial" panose="020B0604020202020204" pitchFamily="34" charset="0"/>
              <a:cs typeface="Arial" panose="020B0604020202020204" pitchFamily="34" charset="0"/>
            </a:endParaRPr>
          </a:p>
        </p:txBody>
      </p:sp>
      <p:sp>
        <p:nvSpPr>
          <p:cNvPr id="7" name="Content Placeholder 4">
            <a:extLst>
              <a:ext uri="{FF2B5EF4-FFF2-40B4-BE49-F238E27FC236}">
                <a16:creationId xmlns:a16="http://schemas.microsoft.com/office/drawing/2014/main" id="{53B11326-92C1-01B3-351A-51955DC0E49D}"/>
              </a:ext>
            </a:extLst>
          </p:cNvPr>
          <p:cNvSpPr txBox="1">
            <a:spLocks/>
          </p:cNvSpPr>
          <p:nvPr/>
        </p:nvSpPr>
        <p:spPr>
          <a:xfrm>
            <a:off x="865953" y="2361363"/>
            <a:ext cx="10451592" cy="4039438"/>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None/>
            </a:pP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Hệ</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thống</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đếm</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phương</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tiện</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tương</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đối</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chính</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xác</a:t>
            </a:r>
            <a:r>
              <a:rPr lang="en-US" sz="2600" dirty="0">
                <a:latin typeface="Arial" panose="020B0604020202020204" pitchFamily="34" charset="0"/>
                <a:cs typeface="Arial" panose="020B0604020202020204" pitchFamily="34" charset="0"/>
              </a:rPr>
              <a:t>.</a:t>
            </a:r>
          </a:p>
          <a:p>
            <a:pPr marL="0" lvl="0" indent="0">
              <a:buNone/>
            </a:pP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Giảm</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hiện</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tượng</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đếm</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trùng</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khi</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phương</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tiện</a:t>
            </a:r>
            <a:r>
              <a:rPr lang="en-US" sz="2600" dirty="0">
                <a:latin typeface="Arial" panose="020B0604020202020204" pitchFamily="34" charset="0"/>
                <a:cs typeface="Arial" panose="020B0604020202020204" pitchFamily="34" charset="0"/>
              </a:rPr>
              <a:t> di </a:t>
            </a:r>
            <a:r>
              <a:rPr lang="en-US" sz="2600" dirty="0" err="1">
                <a:latin typeface="Arial" panose="020B0604020202020204" pitchFamily="34" charset="0"/>
                <a:cs typeface="Arial" panose="020B0604020202020204" pitchFamily="34" charset="0"/>
              </a:rPr>
              <a:t>chuyển</a:t>
            </a:r>
            <a:r>
              <a:rPr lang="en-US" sz="2600" dirty="0">
                <a:latin typeface="Arial" panose="020B0604020202020204" pitchFamily="34" charset="0"/>
                <a:cs typeface="Arial" panose="020B0604020202020204" pitchFamily="34" charset="0"/>
              </a:rPr>
              <a:t>.</a:t>
            </a:r>
          </a:p>
          <a:p>
            <a:pPr marL="0" lvl="0" indent="0">
              <a:buNone/>
            </a:pPr>
            <a:r>
              <a:rPr lang="en-US" sz="2600" dirty="0">
                <a:latin typeface="Arial" panose="020B0604020202020204" pitchFamily="34" charset="0"/>
                <a:cs typeface="Arial" panose="020B0604020202020204" pitchFamily="34" charset="0"/>
              </a:rPr>
              <a:t>- Sai </a:t>
            </a:r>
            <a:r>
              <a:rPr lang="en-US" sz="2600" dirty="0" err="1">
                <a:latin typeface="Arial" panose="020B0604020202020204" pitchFamily="34" charset="0"/>
                <a:cs typeface="Arial" panose="020B0604020202020204" pitchFamily="34" charset="0"/>
              </a:rPr>
              <a:t>số</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xảy</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ra</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khi</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phương</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tiện</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bị</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che</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khuất</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hoặc</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đi</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sát</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nhau</a:t>
            </a:r>
            <a:r>
              <a:rPr lang="en-US" sz="26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7840098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0098A-F148-A187-E85E-57EB160ABF25}"/>
              </a:ext>
            </a:extLst>
          </p:cNvPr>
          <p:cNvSpPr>
            <a:spLocks noGrp="1"/>
          </p:cNvSpPr>
          <p:nvPr>
            <p:ph type="title"/>
          </p:nvPr>
        </p:nvSpPr>
        <p:spPr>
          <a:xfrm>
            <a:off x="1011936" y="316107"/>
            <a:ext cx="10168128" cy="739386"/>
          </a:xfrm>
        </p:spPr>
        <p:txBody>
          <a:bodyPr/>
          <a:lstStyle/>
          <a:p>
            <a:r>
              <a:rPr lang="en-US" b="1" dirty="0">
                <a:latin typeface="Arial" panose="020B0604020202020204" pitchFamily="34" charset="0"/>
                <a:cs typeface="Arial" panose="020B0604020202020204" pitchFamily="34" charset="0"/>
              </a:rPr>
              <a:t>KẾT QUẢ NGHIÊN CỨU</a:t>
            </a:r>
          </a:p>
        </p:txBody>
      </p:sp>
      <p:sp>
        <p:nvSpPr>
          <p:cNvPr id="3" name="Content Placeholder 2">
            <a:extLst>
              <a:ext uri="{FF2B5EF4-FFF2-40B4-BE49-F238E27FC236}">
                <a16:creationId xmlns:a16="http://schemas.microsoft.com/office/drawing/2014/main" id="{B0B65E42-7313-4871-DAFB-F73A09685FC1}"/>
              </a:ext>
            </a:extLst>
          </p:cNvPr>
          <p:cNvSpPr>
            <a:spLocks noGrp="1"/>
          </p:cNvSpPr>
          <p:nvPr>
            <p:ph idx="1"/>
          </p:nvPr>
        </p:nvSpPr>
        <p:spPr>
          <a:xfrm>
            <a:off x="540774" y="2478024"/>
            <a:ext cx="10742922" cy="3694176"/>
          </a:xfrm>
        </p:spPr>
        <p:txBody>
          <a:bodyPr>
            <a:normAutofit/>
          </a:bodyPr>
          <a:lstStyle/>
          <a:p>
            <a:pPr marL="0" indent="0">
              <a:buNone/>
            </a:pP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Độ</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chính</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xác</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khi</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phát</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hiện</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của</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mô</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hình</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đạt</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mức</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tốt</a:t>
            </a:r>
            <a:endParaRPr lang="en-US" sz="2600" dirty="0">
              <a:latin typeface="Arial" panose="020B0604020202020204" pitchFamily="34" charset="0"/>
              <a:cs typeface="Arial" panose="020B0604020202020204" pitchFamily="34" charset="0"/>
            </a:endParaRPr>
          </a:p>
          <a:p>
            <a:pPr marL="0" indent="0">
              <a:buNone/>
            </a:pP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Tốc</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độ</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xử</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lý</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nhanh</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phù</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hợp</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với</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thời</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gian</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thực</a:t>
            </a:r>
            <a:endParaRPr lang="en-US" sz="2600" dirty="0">
              <a:latin typeface="Arial" panose="020B0604020202020204" pitchFamily="34" charset="0"/>
              <a:cs typeface="Arial" panose="020B0604020202020204" pitchFamily="34" charset="0"/>
            </a:endParaRPr>
          </a:p>
          <a:p>
            <a:pPr marL="0" indent="0">
              <a:buNone/>
            </a:pP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Đáp</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ứng</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yêu</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cầu</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nghiên</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cứu</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của</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đồ</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án</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cơ</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sở</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ngành</a:t>
            </a:r>
            <a:endParaRPr lang="en-US" sz="2600" dirty="0">
              <a:latin typeface="Arial" panose="020B0604020202020204" pitchFamily="34" charset="0"/>
              <a:cs typeface="Arial" panose="020B0604020202020204" pitchFamily="34" charset="0"/>
            </a:endParaRPr>
          </a:p>
        </p:txBody>
      </p:sp>
      <p:sp>
        <p:nvSpPr>
          <p:cNvPr id="4" name="Title 1">
            <a:extLst>
              <a:ext uri="{FF2B5EF4-FFF2-40B4-BE49-F238E27FC236}">
                <a16:creationId xmlns:a16="http://schemas.microsoft.com/office/drawing/2014/main" id="{652F95AF-1D32-2B75-4F54-8304A0029C44}"/>
              </a:ext>
            </a:extLst>
          </p:cNvPr>
          <p:cNvSpPr txBox="1">
            <a:spLocks/>
          </p:cNvSpPr>
          <p:nvPr/>
        </p:nvSpPr>
        <p:spPr>
          <a:xfrm>
            <a:off x="1011936" y="1110307"/>
            <a:ext cx="5959135" cy="43763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kern="1200">
                <a:solidFill>
                  <a:schemeClr val="tx1"/>
                </a:solidFill>
                <a:latin typeface="+mj-lt"/>
                <a:ea typeface="+mj-ea"/>
                <a:cs typeface="+mj-cs"/>
              </a:defRPr>
            </a:lvl1pPr>
          </a:lstStyle>
          <a:p>
            <a:r>
              <a:rPr lang="en-US" sz="2600" dirty="0" err="1">
                <a:latin typeface="Arial" panose="020B0604020202020204" pitchFamily="34" charset="0"/>
                <a:cs typeface="Arial" panose="020B0604020202020204" pitchFamily="34" charset="0"/>
              </a:rPr>
              <a:t>Đánh</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giá</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chung</a:t>
            </a:r>
            <a:r>
              <a:rPr lang="en-US" sz="2600"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17674602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6108AE1-B2AD-DF9D-B7A2-F4B4792357D7}"/>
            </a:ext>
          </a:extLst>
        </p:cNvPr>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5" name="Rectangle 34">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7" name="Rectangle 36">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A462F8E-5CF8-0122-D742-432712B52B55}"/>
              </a:ext>
            </a:extLst>
          </p:cNvPr>
          <p:cNvSpPr>
            <a:spLocks noGrp="1"/>
          </p:cNvSpPr>
          <p:nvPr>
            <p:ph type="title"/>
          </p:nvPr>
        </p:nvSpPr>
        <p:spPr>
          <a:xfrm>
            <a:off x="1017405" y="212299"/>
            <a:ext cx="3672582" cy="704088"/>
          </a:xfrm>
        </p:spPr>
        <p:txBody>
          <a:bodyPr>
            <a:normAutofit/>
          </a:bodyPr>
          <a:lstStyle/>
          <a:p>
            <a:r>
              <a:rPr lang="vi-VN" b="1" dirty="0">
                <a:latin typeface="Arial" panose="020B0604020202020204" pitchFamily="34" charset="0"/>
                <a:cs typeface="Arial" panose="020B0604020202020204" pitchFamily="34" charset="0"/>
              </a:rPr>
              <a:t>TỔNG KẾT	</a:t>
            </a:r>
            <a:endParaRPr lang="en-US" b="1" dirty="0">
              <a:latin typeface="Arial" panose="020B0604020202020204" pitchFamily="34" charset="0"/>
              <a:cs typeface="Arial" panose="020B0604020202020204" pitchFamily="34" charset="0"/>
            </a:endParaRPr>
          </a:p>
        </p:txBody>
      </p:sp>
      <p:sp>
        <p:nvSpPr>
          <p:cNvPr id="39" name="Rectangle 38">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Content Placeholder 3">
            <a:extLst>
              <a:ext uri="{FF2B5EF4-FFF2-40B4-BE49-F238E27FC236}">
                <a16:creationId xmlns:a16="http://schemas.microsoft.com/office/drawing/2014/main" id="{BEEFF29F-4FB8-16AF-3444-440068C8592F}"/>
              </a:ext>
            </a:extLst>
          </p:cNvPr>
          <p:cNvSpPr>
            <a:spLocks noGrp="1"/>
          </p:cNvSpPr>
          <p:nvPr>
            <p:ph idx="1"/>
          </p:nvPr>
        </p:nvSpPr>
        <p:spPr>
          <a:xfrm>
            <a:off x="626850" y="2095176"/>
            <a:ext cx="11095757" cy="2457159"/>
          </a:xfrm>
        </p:spPr>
        <p:txBody>
          <a:bodyPr>
            <a:noAutofit/>
          </a:bodyPr>
          <a:lstStyle/>
          <a:p>
            <a:pPr algn="just">
              <a:lnSpc>
                <a:spcPct val="100000"/>
              </a:lnSpc>
              <a:buFontTx/>
              <a:buChar char="-"/>
            </a:pPr>
            <a:r>
              <a:rPr lang="en-US" sz="2600" dirty="0" err="1">
                <a:latin typeface="Arial" panose="020B0604020202020204" pitchFamily="34" charset="0"/>
                <a:cs typeface="Arial" panose="020B0604020202020204" pitchFamily="34" charset="0"/>
              </a:rPr>
              <a:t>Hiểu</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được</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nguyên</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lý</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hoạt</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động</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của</a:t>
            </a:r>
            <a:r>
              <a:rPr lang="en-US" sz="2600" dirty="0">
                <a:latin typeface="Arial" panose="020B0604020202020204" pitchFamily="34" charset="0"/>
                <a:cs typeface="Arial" panose="020B0604020202020204" pitchFamily="34" charset="0"/>
              </a:rPr>
              <a:t> YOLOv11</a:t>
            </a:r>
          </a:p>
          <a:p>
            <a:pPr algn="just">
              <a:lnSpc>
                <a:spcPct val="100000"/>
              </a:lnSpc>
              <a:buFontTx/>
              <a:buChar char="-"/>
            </a:pPr>
            <a:r>
              <a:rPr lang="en-US" sz="2600" dirty="0" err="1">
                <a:latin typeface="Arial" panose="020B0604020202020204" pitchFamily="34" charset="0"/>
                <a:cs typeface="Arial" panose="020B0604020202020204" pitchFamily="34" charset="0"/>
              </a:rPr>
              <a:t>Xây</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dựng</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được</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mô</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hình</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phát</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hiện</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và</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đếm</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số</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lượng</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phương</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tiện</a:t>
            </a:r>
            <a:r>
              <a:rPr lang="en-US" sz="2600" dirty="0">
                <a:latin typeface="Arial" panose="020B0604020202020204" pitchFamily="34" charset="0"/>
                <a:cs typeface="Arial" panose="020B0604020202020204" pitchFamily="34" charset="0"/>
              </a:rPr>
              <a:t>.</a:t>
            </a:r>
          </a:p>
          <a:p>
            <a:pPr algn="just">
              <a:lnSpc>
                <a:spcPct val="100000"/>
              </a:lnSpc>
              <a:buFontTx/>
              <a:buChar char="-"/>
            </a:pPr>
            <a:r>
              <a:rPr lang="en-US" sz="2600" dirty="0" err="1">
                <a:latin typeface="Arial" panose="020B0604020202020204" pitchFamily="34" charset="0"/>
                <a:cs typeface="Arial" panose="020B0604020202020204" pitchFamily="34" charset="0"/>
              </a:rPr>
              <a:t>Ứng</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dụng</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thành</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công</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mô</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hình</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vào</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bài</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toán</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của</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đề</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tài</a:t>
            </a:r>
            <a:r>
              <a:rPr lang="en-US" sz="2600" dirty="0">
                <a:latin typeface="Arial" panose="020B0604020202020204" pitchFamily="34" charset="0"/>
                <a:cs typeface="Arial" panose="020B0604020202020204" pitchFamily="34" charset="0"/>
              </a:rPr>
              <a:t>.</a:t>
            </a:r>
            <a:endParaRPr lang="vi-VN" sz="2600" dirty="0">
              <a:latin typeface="Arial" panose="020B0604020202020204" pitchFamily="34" charset="0"/>
              <a:cs typeface="Arial" panose="020B0604020202020204" pitchFamily="34" charset="0"/>
            </a:endParaRPr>
          </a:p>
        </p:txBody>
      </p:sp>
      <p:sp>
        <p:nvSpPr>
          <p:cNvPr id="6" name="Content Placeholder 4">
            <a:extLst>
              <a:ext uri="{FF2B5EF4-FFF2-40B4-BE49-F238E27FC236}">
                <a16:creationId xmlns:a16="http://schemas.microsoft.com/office/drawing/2014/main" id="{C1E67247-B9EC-FB8E-D197-36F56FC52553}"/>
              </a:ext>
            </a:extLst>
          </p:cNvPr>
          <p:cNvSpPr txBox="1">
            <a:spLocks/>
          </p:cNvSpPr>
          <p:nvPr/>
        </p:nvSpPr>
        <p:spPr>
          <a:xfrm>
            <a:off x="865953" y="2361362"/>
            <a:ext cx="10451592" cy="4069583"/>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lang="en-US">
              <a:latin typeface="Arial" panose="020B0604020202020204" pitchFamily="34" charset="0"/>
              <a:cs typeface="Arial" panose="020B0604020202020204" pitchFamily="34" charset="0"/>
            </a:endParaRPr>
          </a:p>
        </p:txBody>
      </p:sp>
      <p:sp>
        <p:nvSpPr>
          <p:cNvPr id="5" name="Title 1">
            <a:extLst>
              <a:ext uri="{FF2B5EF4-FFF2-40B4-BE49-F238E27FC236}">
                <a16:creationId xmlns:a16="http://schemas.microsoft.com/office/drawing/2014/main" id="{98127153-8090-5D58-CDC1-B8DE1EB6C340}"/>
              </a:ext>
            </a:extLst>
          </p:cNvPr>
          <p:cNvSpPr txBox="1">
            <a:spLocks/>
          </p:cNvSpPr>
          <p:nvPr/>
        </p:nvSpPr>
        <p:spPr>
          <a:xfrm>
            <a:off x="1017405" y="1061847"/>
            <a:ext cx="3672582" cy="577428"/>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000" kern="1200">
                <a:solidFill>
                  <a:schemeClr val="tx1"/>
                </a:solidFill>
                <a:latin typeface="+mj-lt"/>
                <a:ea typeface="+mj-ea"/>
                <a:cs typeface="+mj-cs"/>
              </a:defRPr>
            </a:lvl1pPr>
          </a:lstStyle>
          <a:p>
            <a:r>
              <a:rPr lang="en-US" sz="2600" b="1" dirty="0" err="1">
                <a:latin typeface="Arial" panose="020B0604020202020204" pitchFamily="34" charset="0"/>
                <a:cs typeface="Arial" panose="020B0604020202020204" pitchFamily="34" charset="0"/>
              </a:rPr>
              <a:t>Kết</a:t>
            </a:r>
            <a:r>
              <a:rPr lang="en-US" sz="2600" b="1" dirty="0">
                <a:latin typeface="Arial" panose="020B0604020202020204" pitchFamily="34" charset="0"/>
                <a:cs typeface="Arial" panose="020B0604020202020204" pitchFamily="34" charset="0"/>
              </a:rPr>
              <a:t> </a:t>
            </a:r>
            <a:r>
              <a:rPr lang="en-US" sz="2600" b="1" dirty="0" err="1">
                <a:latin typeface="Arial" panose="020B0604020202020204" pitchFamily="34" charset="0"/>
                <a:cs typeface="Arial" panose="020B0604020202020204" pitchFamily="34" charset="0"/>
              </a:rPr>
              <a:t>quả</a:t>
            </a:r>
            <a:r>
              <a:rPr lang="en-US" sz="2600" b="1" dirty="0">
                <a:latin typeface="Arial" panose="020B0604020202020204" pitchFamily="34" charset="0"/>
                <a:cs typeface="Arial" panose="020B0604020202020204" pitchFamily="34" charset="0"/>
              </a:rPr>
              <a:t> </a:t>
            </a:r>
            <a:r>
              <a:rPr lang="en-US" sz="2600" b="1" dirty="0" err="1">
                <a:latin typeface="Arial" panose="020B0604020202020204" pitchFamily="34" charset="0"/>
                <a:cs typeface="Arial" panose="020B0604020202020204" pitchFamily="34" charset="0"/>
              </a:rPr>
              <a:t>đạt</a:t>
            </a:r>
            <a:r>
              <a:rPr lang="en-US" sz="2600" b="1" dirty="0">
                <a:latin typeface="Arial" panose="020B0604020202020204" pitchFamily="34" charset="0"/>
                <a:cs typeface="Arial" panose="020B0604020202020204" pitchFamily="34" charset="0"/>
              </a:rPr>
              <a:t> </a:t>
            </a:r>
            <a:r>
              <a:rPr lang="en-US" sz="2600" b="1" dirty="0" err="1">
                <a:latin typeface="Arial" panose="020B0604020202020204" pitchFamily="34" charset="0"/>
                <a:cs typeface="Arial" panose="020B0604020202020204" pitchFamily="34" charset="0"/>
              </a:rPr>
              <a:t>được</a:t>
            </a:r>
            <a:r>
              <a:rPr lang="vi-VN" b="1" dirty="0">
                <a:latin typeface="Arial" panose="020B0604020202020204" pitchFamily="34" charset="0"/>
                <a:cs typeface="Arial" panose="020B0604020202020204" pitchFamily="34" charset="0"/>
              </a:rPr>
              <a:t>	</a:t>
            </a:r>
            <a:endParaRPr lang="en-US"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368620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AB1B2-F583-1C27-3ABA-49F23CA7341C}"/>
              </a:ext>
            </a:extLst>
          </p:cNvPr>
          <p:cNvSpPr>
            <a:spLocks noGrp="1"/>
          </p:cNvSpPr>
          <p:nvPr>
            <p:ph type="title"/>
          </p:nvPr>
        </p:nvSpPr>
        <p:spPr>
          <a:xfrm>
            <a:off x="963561" y="193204"/>
            <a:ext cx="3815703" cy="827876"/>
          </a:xfrm>
        </p:spPr>
        <p:txBody>
          <a:bodyPr>
            <a:normAutofit/>
          </a:bodyPr>
          <a:lstStyle/>
          <a:p>
            <a:r>
              <a:rPr lang="en-US" b="1" dirty="0">
                <a:latin typeface="Arial" panose="020B0604020202020204" pitchFamily="34" charset="0"/>
                <a:cs typeface="Arial" panose="020B0604020202020204" pitchFamily="34" charset="0"/>
              </a:rPr>
              <a:t>TỔNG KẾT</a:t>
            </a:r>
          </a:p>
        </p:txBody>
      </p:sp>
      <p:sp>
        <p:nvSpPr>
          <p:cNvPr id="3" name="Content Placeholder 2">
            <a:extLst>
              <a:ext uri="{FF2B5EF4-FFF2-40B4-BE49-F238E27FC236}">
                <a16:creationId xmlns:a16="http://schemas.microsoft.com/office/drawing/2014/main" id="{20AEA15A-60BE-841A-84E6-049F9EBAA673}"/>
              </a:ext>
            </a:extLst>
          </p:cNvPr>
          <p:cNvSpPr>
            <a:spLocks noGrp="1"/>
          </p:cNvSpPr>
          <p:nvPr>
            <p:ph idx="1"/>
          </p:nvPr>
        </p:nvSpPr>
        <p:spPr>
          <a:xfrm>
            <a:off x="963561" y="2330540"/>
            <a:ext cx="10441857" cy="3694176"/>
          </a:xfrm>
        </p:spPr>
        <p:txBody>
          <a:bodyPr>
            <a:normAutofit lnSpcReduction="10000"/>
          </a:bodyPr>
          <a:lstStyle/>
          <a:p>
            <a:pPr marL="0" indent="0" algn="just">
              <a:lnSpc>
                <a:spcPct val="100000"/>
              </a:lnSpc>
              <a:buNone/>
            </a:pPr>
            <a:r>
              <a:rPr lang="vi-VN" b="1" dirty="0">
                <a:latin typeface="Arial" panose="020B0604020202020204" pitchFamily="34" charset="0"/>
                <a:cs typeface="Arial" panose="020B0604020202020204" pitchFamily="34" charset="0"/>
              </a:rPr>
              <a:t>Hạn chế</a:t>
            </a:r>
            <a:endParaRPr lang="vi-VN" dirty="0">
              <a:latin typeface="Arial" panose="020B0604020202020204" pitchFamily="34" charset="0"/>
              <a:cs typeface="Arial" panose="020B0604020202020204" pitchFamily="34" charset="0"/>
            </a:endParaRPr>
          </a:p>
          <a:p>
            <a:pPr algn="just">
              <a:lnSpc>
                <a:spcPct val="100000"/>
              </a:lnSpc>
              <a:buFontTx/>
              <a:buChar char="-"/>
            </a:pPr>
            <a:r>
              <a:rPr lang="en-US" dirty="0" err="1">
                <a:latin typeface="Arial" panose="020B0604020202020204" pitchFamily="34" charset="0"/>
                <a:cs typeface="Arial" panose="020B0604020202020204" pitchFamily="34" charset="0"/>
              </a:rPr>
              <a:t>Dữ</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liệu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để</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huấn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luyện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mô</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hình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còn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hạn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chế</a:t>
            </a:r>
            <a:r>
              <a:rPr lang="en-US" dirty="0">
                <a:latin typeface="Arial" panose="020B0604020202020204" pitchFamily="34" charset="0"/>
                <a:cs typeface="Arial" panose="020B0604020202020204" pitchFamily="34" charset="0"/>
              </a:rPr>
              <a:t>.</a:t>
            </a:r>
          </a:p>
          <a:p>
            <a:pPr algn="just">
              <a:lnSpc>
                <a:spcPct val="100000"/>
              </a:lnSpc>
              <a:buFontTx/>
              <a:buChar char="-"/>
            </a:pPr>
            <a:r>
              <a:rPr lang="en-US" dirty="0" err="1">
                <a:latin typeface="Arial" panose="020B0604020202020204" pitchFamily="34" charset="0"/>
                <a:cs typeface="Arial" panose="020B0604020202020204" pitchFamily="34" charset="0"/>
              </a:rPr>
              <a:t>Chưa</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xử</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lý</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tốt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các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phương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tiện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nhỏ</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và</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bị</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che</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khuất</a:t>
            </a:r>
            <a:r>
              <a:rPr lang="en-US" dirty="0">
                <a:latin typeface="Arial" panose="020B0604020202020204" pitchFamily="34" charset="0"/>
                <a:cs typeface="Arial" panose="020B0604020202020204" pitchFamily="34" charset="0"/>
              </a:rPr>
              <a:t>.</a:t>
            </a:r>
            <a:endParaRPr lang="vi-VN" dirty="0">
              <a:latin typeface="Arial" panose="020B0604020202020204" pitchFamily="34" charset="0"/>
              <a:cs typeface="Arial" panose="020B0604020202020204" pitchFamily="34" charset="0"/>
            </a:endParaRPr>
          </a:p>
          <a:p>
            <a:pPr marL="0" indent="0" algn="just">
              <a:lnSpc>
                <a:spcPct val="100000"/>
              </a:lnSpc>
              <a:buNone/>
            </a:pPr>
            <a:r>
              <a:rPr lang="vi-VN" b="1" dirty="0">
                <a:latin typeface="Arial" panose="020B0604020202020204" pitchFamily="34" charset="0"/>
                <a:cs typeface="Arial" panose="020B0604020202020204" pitchFamily="34" charset="0"/>
              </a:rPr>
              <a:t>Hướng phát triển</a:t>
            </a:r>
            <a:endParaRPr lang="vi-VN" dirty="0">
              <a:latin typeface="Arial" panose="020B0604020202020204" pitchFamily="34" charset="0"/>
              <a:cs typeface="Arial" panose="020B0604020202020204" pitchFamily="34" charset="0"/>
            </a:endParaRPr>
          </a:p>
          <a:p>
            <a:pPr algn="just">
              <a:lnSpc>
                <a:spcPct val="100000"/>
              </a:lnSpc>
              <a:buFontTx/>
              <a:buChar char="-"/>
            </a:pPr>
            <a:r>
              <a:rPr lang="en-US" dirty="0" err="1">
                <a:latin typeface="Arial" panose="020B0604020202020204" pitchFamily="34" charset="0"/>
                <a:cs typeface="Arial" panose="020B0604020202020204" pitchFamily="34" charset="0"/>
              </a:rPr>
              <a:t>Mở</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rộng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tập</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huấn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luyện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dữ</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liệu</a:t>
            </a:r>
            <a:r>
              <a:rPr lang="en-US" dirty="0">
                <a:latin typeface="Arial" panose="020B0604020202020204" pitchFamily="34" charset="0"/>
                <a:cs typeface="Arial" panose="020B0604020202020204" pitchFamily="34" charset="0"/>
              </a:rPr>
              <a:t>.</a:t>
            </a:r>
          </a:p>
          <a:p>
            <a:pPr algn="just">
              <a:lnSpc>
                <a:spcPct val="100000"/>
              </a:lnSpc>
              <a:buFontTx/>
              <a:buChar char="-"/>
            </a:pPr>
            <a:r>
              <a:rPr lang="en-US" dirty="0" err="1">
                <a:latin typeface="Arial" panose="020B0604020202020204" pitchFamily="34" charset="0"/>
                <a:cs typeface="Arial" panose="020B0604020202020204" pitchFamily="34" charset="0"/>
              </a:rPr>
              <a:t>Kết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hợp</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theo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dõi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đối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tượng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để</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tăng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độ</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chính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xác</a:t>
            </a:r>
            <a:r>
              <a:rPr lang="en-US" dirty="0">
                <a:latin typeface="Arial" panose="020B0604020202020204" pitchFamily="34" charset="0"/>
                <a:cs typeface="Arial" panose="020B0604020202020204" pitchFamily="34" charset="0"/>
              </a:rPr>
              <a:t>.</a:t>
            </a:r>
          </a:p>
          <a:p>
            <a:pPr algn="just">
              <a:lnSpc>
                <a:spcPct val="100000"/>
              </a:lnSpc>
              <a:buFontTx/>
              <a:buChar char="-"/>
            </a:pPr>
            <a:r>
              <a:rPr lang="en-US" dirty="0" err="1">
                <a:latin typeface="Arial" panose="020B0604020202020204" pitchFamily="34" charset="0"/>
                <a:cs typeface="Arial" panose="020B0604020202020204" pitchFamily="34" charset="0"/>
              </a:rPr>
              <a:t>Ứng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dụng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trong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hệ</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thống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giao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thông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thông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minh</a:t>
            </a:r>
            <a:r>
              <a:rPr lang="en-US" dirty="0">
                <a:latin typeface="Arial" panose="020B0604020202020204" pitchFamily="34" charset="0"/>
                <a:cs typeface="Arial" panose="020B0604020202020204" pitchFamily="34" charset="0"/>
              </a:rPr>
              <a:t>.</a:t>
            </a:r>
          </a:p>
          <a:p>
            <a:endParaRPr lang="en-US" dirty="0"/>
          </a:p>
        </p:txBody>
      </p:sp>
      <p:sp>
        <p:nvSpPr>
          <p:cNvPr id="4" name="Title 1">
            <a:extLst>
              <a:ext uri="{FF2B5EF4-FFF2-40B4-BE49-F238E27FC236}">
                <a16:creationId xmlns:a16="http://schemas.microsoft.com/office/drawing/2014/main" id="{A5967F66-B3C7-AF52-51BF-3F25369F2B6C}"/>
              </a:ext>
            </a:extLst>
          </p:cNvPr>
          <p:cNvSpPr txBox="1">
            <a:spLocks/>
          </p:cNvSpPr>
          <p:nvPr/>
        </p:nvSpPr>
        <p:spPr>
          <a:xfrm>
            <a:off x="963561" y="1021080"/>
            <a:ext cx="4414683" cy="690814"/>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000" kern="1200">
                <a:solidFill>
                  <a:schemeClr val="tx1"/>
                </a:solidFill>
                <a:latin typeface="+mj-lt"/>
                <a:ea typeface="+mj-ea"/>
                <a:cs typeface="+mj-cs"/>
              </a:defRPr>
            </a:lvl1pPr>
          </a:lstStyle>
          <a:p>
            <a:r>
              <a:rPr lang="en-US" sz="2600" b="1" dirty="0" err="1">
                <a:latin typeface="Arial" panose="020B0604020202020204" pitchFamily="34" charset="0"/>
                <a:cs typeface="Arial" panose="020B0604020202020204" pitchFamily="34" charset="0"/>
              </a:rPr>
              <a:t>Hạn</a:t>
            </a:r>
            <a:r>
              <a:rPr lang="en-US" sz="2600" b="1" dirty="0">
                <a:latin typeface="Arial" panose="020B0604020202020204" pitchFamily="34" charset="0"/>
                <a:cs typeface="Arial" panose="020B0604020202020204" pitchFamily="34" charset="0"/>
              </a:rPr>
              <a:t> </a:t>
            </a:r>
            <a:r>
              <a:rPr lang="en-US" sz="2600" b="1" dirty="0" err="1">
                <a:latin typeface="Arial" panose="020B0604020202020204" pitchFamily="34" charset="0"/>
                <a:cs typeface="Arial" panose="020B0604020202020204" pitchFamily="34" charset="0"/>
              </a:rPr>
              <a:t>chế</a:t>
            </a:r>
            <a:r>
              <a:rPr lang="en-US" sz="2600" b="1" dirty="0">
                <a:latin typeface="Arial" panose="020B0604020202020204" pitchFamily="34" charset="0"/>
                <a:cs typeface="Arial" panose="020B0604020202020204" pitchFamily="34" charset="0"/>
              </a:rPr>
              <a:t> </a:t>
            </a:r>
            <a:r>
              <a:rPr lang="en-US" sz="2600" b="1" dirty="0" err="1">
                <a:latin typeface="Arial" panose="020B0604020202020204" pitchFamily="34" charset="0"/>
                <a:cs typeface="Arial" panose="020B0604020202020204" pitchFamily="34" charset="0"/>
              </a:rPr>
              <a:t>và</a:t>
            </a:r>
            <a:r>
              <a:rPr lang="en-US" sz="2600" b="1" dirty="0">
                <a:latin typeface="Arial" panose="020B0604020202020204" pitchFamily="34" charset="0"/>
                <a:cs typeface="Arial" panose="020B0604020202020204" pitchFamily="34" charset="0"/>
              </a:rPr>
              <a:t> </a:t>
            </a:r>
            <a:r>
              <a:rPr lang="en-US" sz="2600" b="1" dirty="0" err="1">
                <a:latin typeface="Arial" panose="020B0604020202020204" pitchFamily="34" charset="0"/>
                <a:cs typeface="Arial" panose="020B0604020202020204" pitchFamily="34" charset="0"/>
              </a:rPr>
              <a:t>hướng</a:t>
            </a:r>
            <a:r>
              <a:rPr lang="en-US" sz="2600" b="1" dirty="0">
                <a:latin typeface="Arial" panose="020B0604020202020204" pitchFamily="34" charset="0"/>
                <a:cs typeface="Arial" panose="020B0604020202020204" pitchFamily="34" charset="0"/>
              </a:rPr>
              <a:t> </a:t>
            </a:r>
            <a:r>
              <a:rPr lang="en-US" sz="2600" b="1" dirty="0" err="1">
                <a:latin typeface="Arial" panose="020B0604020202020204" pitchFamily="34" charset="0"/>
                <a:cs typeface="Arial" panose="020B0604020202020204" pitchFamily="34" charset="0"/>
              </a:rPr>
              <a:t>phát</a:t>
            </a:r>
            <a:r>
              <a:rPr lang="en-US" sz="2600" b="1" dirty="0">
                <a:latin typeface="Arial" panose="020B0604020202020204" pitchFamily="34" charset="0"/>
                <a:cs typeface="Arial" panose="020B0604020202020204" pitchFamily="34" charset="0"/>
              </a:rPr>
              <a:t> </a:t>
            </a:r>
            <a:r>
              <a:rPr lang="en-US" sz="2600" b="1" dirty="0" err="1">
                <a:latin typeface="Arial" panose="020B0604020202020204" pitchFamily="34" charset="0"/>
                <a:cs typeface="Arial" panose="020B0604020202020204" pitchFamily="34" charset="0"/>
              </a:rPr>
              <a:t>triển</a:t>
            </a:r>
            <a:endParaRPr lang="en-US" sz="26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81722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8D06CE56-3881-4ADA-8CEF-D18B02C24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 name="Rectangle 31">
            <a:extLst>
              <a:ext uri="{FF2B5EF4-FFF2-40B4-BE49-F238E27FC236}">
                <a16:creationId xmlns:a16="http://schemas.microsoft.com/office/drawing/2014/main" id="{79F3C543-62EC-4433-9C93-A2CD8764E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3" name="Rectangle 32">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4" name="Freeform: Shape 33">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chemeClr val="tx2">
                <a:lumMod val="10000"/>
                <a:lumOff val="90000"/>
              </a:schemeClr>
            </a:solidFill>
          </a:ln>
          <a:effectLst>
            <a:outerShdw blurRad="63500" sx="102000" sy="102000" algn="ctr" rotWithShape="0">
              <a:schemeClr val="bg1">
                <a:lumMod val="8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5" name="Freeform: Shape 34">
            <a:extLst>
              <a:ext uri="{FF2B5EF4-FFF2-40B4-BE49-F238E27FC236}">
                <a16:creationId xmlns:a16="http://schemas.microsoft.com/office/drawing/2014/main" id="{9C45F024-2468-4D8A-9E11-BB2B1E0A3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3F85C5A-9956-8CC1-218C-C6058F76EB75}"/>
              </a:ext>
            </a:extLst>
          </p:cNvPr>
          <p:cNvSpPr>
            <a:spLocks noGrp="1"/>
          </p:cNvSpPr>
          <p:nvPr>
            <p:ph type="title"/>
          </p:nvPr>
        </p:nvSpPr>
        <p:spPr>
          <a:xfrm>
            <a:off x="1524003" y="1646666"/>
            <a:ext cx="9016718" cy="3116977"/>
          </a:xfrm>
        </p:spPr>
        <p:txBody>
          <a:bodyPr vert="horz" lIns="91440" tIns="45720" rIns="91440" bIns="45720" rtlCol="0" anchor="ctr">
            <a:normAutofit/>
          </a:bodyPr>
          <a:lstStyle/>
          <a:p>
            <a:pPr algn="ctr"/>
            <a:r>
              <a:rPr lang="en-US" sz="6000" b="1">
                <a:latin typeface="Arial" panose="020B0604020202020204" pitchFamily="34" charset="0"/>
                <a:cs typeface="Arial" panose="020B0604020202020204" pitchFamily="34" charset="0"/>
              </a:rPr>
              <a:t>CẢM ƠN </a:t>
            </a:r>
            <a:r>
              <a:rPr lang="vi-VN" sz="6000" b="1">
                <a:latin typeface="Arial" panose="020B0604020202020204" pitchFamily="34" charset="0"/>
                <a:cs typeface="Arial" panose="020B0604020202020204" pitchFamily="34" charset="0"/>
              </a:rPr>
              <a:t>THẦY, </a:t>
            </a:r>
            <a:r>
              <a:rPr lang="en-US" sz="6000" b="1">
                <a:latin typeface="Arial" panose="020B0604020202020204" pitchFamily="34" charset="0"/>
                <a:cs typeface="Arial" panose="020B0604020202020204" pitchFamily="34" charset="0"/>
              </a:rPr>
              <a:t>CÔ ĐÃ CHÚ Ý LẮNG</a:t>
            </a:r>
            <a:r>
              <a:rPr lang="vi-VN" sz="6000" b="1">
                <a:latin typeface="Arial" panose="020B0604020202020204" pitchFamily="34" charset="0"/>
                <a:cs typeface="Arial" panose="020B0604020202020204" pitchFamily="34" charset="0"/>
              </a:rPr>
              <a:t>  </a:t>
            </a:r>
            <a:r>
              <a:rPr lang="en-US" sz="6000" b="1">
                <a:latin typeface="Arial" panose="020B0604020202020204" pitchFamily="34" charset="0"/>
                <a:cs typeface="Arial" panose="020B0604020202020204" pitchFamily="34" charset="0"/>
              </a:rPr>
              <a:t>NGHE</a:t>
            </a:r>
          </a:p>
        </p:txBody>
      </p:sp>
      <p:sp>
        <p:nvSpPr>
          <p:cNvPr id="30" name="Rectangle 29">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183902"/>
            <a:ext cx="4754880" cy="274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97780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AccentBoxVTI">
  <a:themeElements>
    <a:clrScheme name="AccentBoxVTI">
      <a:dk1>
        <a:srgbClr val="000000"/>
      </a:dk1>
      <a:lt1>
        <a:sysClr val="window" lastClr="FFFFFF"/>
      </a:lt1>
      <a:dk2>
        <a:srgbClr val="262626"/>
      </a:dk2>
      <a:lt2>
        <a:srgbClr val="FFFFFF"/>
      </a:lt2>
      <a:accent1>
        <a:srgbClr val="F5A700"/>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Avenir">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9F778A78-DC9A-453A-A82D-A75CAD503E15}" vid="{EA961113-7CC4-4569-8A6A-7BC2C1E2F401}"/>
    </a:ext>
  </a:extLst>
</a:theme>
</file>

<file path=docProps/app.xml><?xml version="1.0" encoding="utf-8"?>
<Properties xmlns="http://schemas.openxmlformats.org/officeDocument/2006/extended-properties" xmlns:vt="http://schemas.openxmlformats.org/officeDocument/2006/docPropsVTypes">
  <Template>TM02900769[[fn=Retrospect]]</Template>
  <TotalTime>1943</TotalTime>
  <Words>1132</Words>
  <Application>Microsoft Office PowerPoint</Application>
  <PresentationFormat>Widescreen</PresentationFormat>
  <Paragraphs>95</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Avenir Next LT Pro</vt:lpstr>
      <vt:lpstr>Calibri</vt:lpstr>
      <vt:lpstr>AccentBoxVTI</vt:lpstr>
      <vt:lpstr>TÌM HIỂU VỀ YOLOv11 VÀ ỨNG DỤNG PHÁT HIỆN VÀ ĐẾM SỐ LƯỢNG PHƯƠNG TIỆN</vt:lpstr>
      <vt:lpstr>NỘI DUNG </vt:lpstr>
      <vt:lpstr>TỔNG QUAN VỀ ĐỀ TÀI </vt:lpstr>
      <vt:lpstr>TỔNG QUAN VỀ ĐỀ TÀI </vt:lpstr>
      <vt:lpstr>TỔNG QUAN VỀ ĐỀ TÀI </vt:lpstr>
      <vt:lpstr>CƠ SỞ LÝ THUYẾT</vt:lpstr>
      <vt:lpstr>CƠ SỞ LÝ THUYẾT</vt:lpstr>
      <vt:lpstr>CƠ SỞ LÝ THUYẾT</vt:lpstr>
      <vt:lpstr>CƠ SỞ LÝ THUYẾT</vt:lpstr>
      <vt:lpstr>PHÂN TÍCH VÀ THIẾT KẾ HỆ THỐNG</vt:lpstr>
      <vt:lpstr>PHÂN TÍCH VÀ THIẾT KẾ HỆ THỐNG </vt:lpstr>
      <vt:lpstr>KẾT QUẢ NGHIÊN CỨU</vt:lpstr>
      <vt:lpstr>KẾT QUẢ NGHIÊN CỨU</vt:lpstr>
      <vt:lpstr>KẾT QUẢ NGHIÊN CỨU</vt:lpstr>
      <vt:lpstr>TỔNG KẾT </vt:lpstr>
      <vt:lpstr>TỔNG KẾT</vt:lpstr>
      <vt:lpstr>CẢM ƠN THẦY, CÔ ĐÃ CHÚ Ý LẮNG  NGHE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Nguyen Gia Nguyen</dc:creator>
  <cp:lastModifiedBy>Office</cp:lastModifiedBy>
  <cp:revision>19</cp:revision>
  <dcterms:created xsi:type="dcterms:W3CDTF">2025-12-29T12:56:17Z</dcterms:created>
  <dcterms:modified xsi:type="dcterms:W3CDTF">2026-01-04T19:50:46Z</dcterms:modified>
</cp:coreProperties>
</file>